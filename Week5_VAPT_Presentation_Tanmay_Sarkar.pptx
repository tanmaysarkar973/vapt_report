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32e51bf-c99c-23c1-05c8-0081d8775e62}">
          <p14:sldIdLst>
            <p14:sldId id="256"/>
            <p14:sldId id="257"/>
            <p14:sldId id="258"/>
          </p14:sldIdLst>
        </p14:section>
        <p14:section name="Scanning and analysis" id="{72695276-f9a7-f43f-2611-b5e5a1f6572f}">
          <p14:sldIdLst>
            <p14:sldId id="259"/>
            <p14:sldId id="260"/>
            <p14:sldId id="261"/>
            <p14:sldId id="262"/>
            <p14:sldId id="263"/>
            <p14:sldId id="264"/>
            <p14:sldId id="265"/>
          </p14:sldIdLst>
        </p14:section>
        <p14:section name="Results" id="{a658c567-b81d-1410-2c92-9849ad012dd7}">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2540"/>
                </a:solidFill>
                <a:latin typeface="+mn-lt"/>
              </a:defRPr>
            </a:pPr>
            <a:r>
              <a:rPr sz="1200" b="0" i="0" u="none" strike="noStrike">
                <a:solidFill>
                  <a:srgbClr val="0B2540"/>
                </a:solidFill>
                <a:latin typeface="+mn-lt"/>
              </a:rPr>
              <a:t>Findings by severity</a:t>
            </a:r>
          </a:p>
        </c:rich>
      </c:tx>
      <c:layout/>
      <c:overlay val="0"/>
    </c:title>
    <c:autoTitleDeleted val="0"/>
    <c:plotArea>
      <c:layout/>
      <c:doughnutChart>
        <c:varyColors val="1"/>
        <c:ser>
          <c:idx val="0"/>
          <c:order val="0"/>
          <c:tx>
            <c:strRef>
              <c:f>Sheet1!$B$1</c:f>
              <c:strCache>
                <c:ptCount val="1"/>
                <c:pt idx="0">
                  <c:v>Findings</c:v>
                </c:pt>
              </c:strCache>
            </c:strRef>
          </c:tx>
          <c:spPr>
            <a:solidFill>
              <a:schemeClr val="accent1"/>
            </a:solidFill>
            <a:ln w="9525" cap="flat">
              <a:solidFill>
                <a:srgbClr val="F9F9F9"/>
              </a:solidFill>
              <a:prstDash val="solid"/>
              <a:round/>
            </a:ln>
            <a:effectLst/>
          </c:spPr>
          <c:dPt>
            <c:idx val="0"/>
            <c:bubble3D val="0"/>
            <c:spPr>
              <a:solidFill>
                <a:srgbClr val="E4572E"/>
              </a:solidFill>
              <a:effectLst/>
            </c:spPr>
          </c:dPt>
          <c:dPt>
            <c:idx val="1"/>
            <c:bubble3D val="0"/>
            <c:spPr>
              <a:solidFill>
                <a:srgbClr val="F2A33A"/>
              </a:solidFill>
              <a:effectLst/>
            </c:spPr>
          </c:dPt>
          <c:dPt>
            <c:idx val="2"/>
            <c:bubble3D val="0"/>
            <c:spPr>
              <a:solidFill>
                <a:srgbClr val="3A7CA5"/>
              </a:solidFill>
              <a:effectLst/>
            </c:spPr>
          </c:dPt>
          <c:dLbls>
            <c:dLbl>
              <c:idx val="0"/>
              <c:numFmt formatCode="General" sourceLinked="0"/>
              <c:spPr/>
              <c:txPr>
                <a:bodyPr/>
                <a:lstStyle/>
                <a:p>
                  <a:pPr>
                    <a:defRPr sz="1400" b="0" i="0" u="none" strike="noStrike">
                      <a:solidFill>
                        <a:srgbClr val="FFFFFF"/>
                      </a:solidFill>
                      <a:latin typeface="+mn-lt"/>
                    </a:defRPr>
                  </a:pPr>
                </a:p>
              </c:txPr>
              <c:showLegendKey val="0"/>
              <c:showVal val="1"/>
              <c:showCatName val="0"/>
              <c:showSerName val="0"/>
              <c:showPercent val="0"/>
              <c:showBubbleSize val="0"/>
            </c:dLbl>
            <c:dLbl>
              <c:idx val="1"/>
              <c:numFmt formatCode="General" sourceLinked="0"/>
              <c:spPr/>
              <c:txPr>
                <a:bodyPr/>
                <a:lstStyle/>
                <a:p>
                  <a:pPr>
                    <a:defRPr sz="1400" b="0" i="0" u="none" strike="noStrike">
                      <a:solidFill>
                        <a:srgbClr val="FFFFFF"/>
                      </a:solidFill>
                      <a:latin typeface="+mn-lt"/>
                    </a:defRPr>
                  </a:pPr>
                </a:p>
              </c:txPr>
              <c:showLegendKey val="0"/>
              <c:showVal val="1"/>
              <c:showCatName val="0"/>
              <c:showSerName val="0"/>
              <c:showPercent val="0"/>
              <c:showBubbleSize val="0"/>
            </c:dLbl>
            <c:dLbl>
              <c:idx val="2"/>
              <c:numFmt formatCode="General" sourceLinked="0"/>
              <c:spPr/>
              <c:txPr>
                <a:bodyPr/>
                <a:lstStyle/>
                <a:p>
                  <a:pPr>
                    <a:defRPr sz="1400" b="0" i="0" u="none" strike="noStrike">
                      <a:solidFill>
                        <a:srgbClr val="FFFFFF"/>
                      </a:solidFill>
                      <a:latin typeface="+mn-lt"/>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Medium</c:v>
                </c:pt>
                <c:pt idx="1">
                  <c:v>Low</c:v>
                </c:pt>
                <c:pt idx="2">
                  <c:v>Informational</c:v>
                </c:pt>
              </c:strCache>
            </c:strRef>
          </c:cat>
          <c:val>
            <c:numRef>
              <c:f>Sheet1!$B$2:$B$4</c:f>
              <c:numCache>
                <c:ptCount val="3"/>
                <c:pt idx="0">
                  <c:v>3</c:v>
                </c:pt>
                <c:pt idx="1">
                  <c:v>4</c:v>
                </c:pt>
                <c:pt idx="2">
                  <c:v>2</c:v>
                </c:pt>
              </c:numCache>
            </c:numRef>
          </c:val>
        </c:ser>
        <c:firstSliceAng val="0"/>
        <c:holeSize val="55"/>
      </c:doughnutChart>
      <c:spPr>
        <a:noFill/>
        <a:ln>
          <a:noFill/>
        </a:ln>
        <a:effectLst/>
      </c:spPr>
    </c:plotArea>
    <c:legend>
      <c:legendPos val="b"/>
      <c:overlay val="0"/>
      <c:txPr>
        <a:bodyPr/>
        <a:lstStyle/>
        <a:p>
          <a:pPr>
            <a:defRPr sz="1100">
              <a:solidFill>
                <a:srgbClr val="0B254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practical: a basic VAPT workflow with Nmap, Nikto and Burp Suite. Mention that all testing was on authorized or student-owned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Nmap was run against the designated target. Nikto and Burp Suite were run against a locally hosted DVWA instance on my own machine. No unrelated systems were scanned.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stages. Emphasize validation: a missing header or a listed folder is not automatically a vulnerability.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testphp.vulnweb.com (44.228.249.3). Five scans with -sS, -sV and -A all returned 1000 filtered ports. A filtered port does not mean vulnerable. Round-trip times of 0.17 to 0.31 ms to a distant cloud host suggest filtering on the local path, so the result should be repeated from another network with -Pn -p 80,443.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Apache and MariaDB were started with systemctl and verified. The database listens only on localhost, which is a good control. The Apache AH00558 ServerName warning is a minor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 nikto -h http://127.0.0.1/dvwa/. Second run saved with tee to nikto-dvwa.txt. Both runs gave 8040 requests, 16 errors and 20 items, so the results are repeatable.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Nikto results by theme. Header gaps were confirmed with curl. Directory indexing and exposed .git files were reported twice by Nikto but not manually retrieved, so they remain scanner-reported.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Burp proxy listener 127.0.0.1:8080. Request 19 is the login POST, request 20 the page loaded after the redirect. The TLS column is empty, so credentials travelled over plain HTTP, which is low risk on loopback but high on a real network. Passwords are not shown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curl -I confirmed what Nikto reported: none of the recommended security headers are returned. Cookies have HttpOnly; PHPSESSID has SameSite=Strict; neither has Secure. Two PHPSESSID values were issued in one response, worth reviewing but not a vulnerability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owner of the lab machine I reviewed config.inc.php locally with sudo. This shows the impact if the file leaked; remote readability was not demonstrated. A first MariaDB login attempt was rejected (ERROR 1045); a later attempt succeeded, consistent with the configured credentials being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Medium, four Low, two Informational. DVWA is deliberately vulnerable, so the ratings describe each issue as if the same configuration were exposed in production. F-01 and F-02 are scanner-reported and still need manual retrieval.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 what exposes data first, then protect transport and cookies, then reduce information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that findings are evidence-based and that testing was authorized.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25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394960" cy="15544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2880360"/>
            <a:ext cx="5394960" cy="548640"/>
          </a:xfrm>
          <a:prstGeom prst="rect">
            <a:avLst/>
          </a:prstGeom>
          <a:noFill/>
          <a:ln/>
        </p:spPr>
        <p:txBody>
          <a:bodyPr wrap="square" rtlCol="0"/>
          <a:lstStyle>
            <a:lvl1pPr algn="l" indent="0" marL="0">
              <a:buNone/>
              <a:defRPr lang="en-US" sz="1800" dirty="0">
                <a:solidFill>
                  <a:srgbClr val="BFD3E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2F6F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457200" y="4754880"/>
            <a:ext cx="4572000" cy="228600"/>
          </a:xfrm>
          <a:prstGeom prst="rect">
            <a:avLst/>
          </a:prstGeom>
          <a:noFill/>
          <a:ln/>
        </p:spPr>
        <p:txBody>
          <a:bodyPr wrap="square" lIns="0" tIns="0" rIns="0" bIns="0" rtlCol="0" anchor="ctr"/>
          <a:lstStyle/>
          <a:p>
            <a:pPr indent="0" marL="0">
              <a:buNone/>
            </a:pPr>
            <a:r>
              <a:rPr lang="en-US" sz="1000" dirty="0">
                <a:solidFill>
                  <a:srgbClr val="5B6B7A"/>
                </a:solidFill>
              </a:rPr>
              <a:t>Week 5 VAPT Practical  |  Tanmay Sarkar</a:t>
            </a:r>
            <a:endParaRPr lang="en-US" sz="10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0B25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FD3E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394960" cy="1554480"/>
          </a:xfrm>
          <a:prstGeom prst="rect">
            <a:avLst/>
          </a:prstGeom>
          <a:noFill/>
          <a:ln/>
        </p:spPr>
        <p:txBody>
          <a:bodyPr wrap="square" lIns="0" tIns="0" rIns="0" bIns="0" rtlCol="0" anchor="t"/>
          <a:lstStyle/>
          <a:p>
            <a:pPr algn="l" indent="0" marL="0">
              <a:buNone/>
            </a:pPr>
            <a:r>
              <a:rPr lang="en-US" sz="3600" b="1" dirty="0">
                <a:solidFill>
                  <a:schemeClr val="bg1"/>
                </a:solidFill>
              </a:rPr>
              <a:t>Vulnerability Assessment and Penetration Testing</a:t>
            </a:r>
            <a:endParaRPr lang="en-US" sz="3600" dirty="0"/>
          </a:p>
        </p:txBody>
      </p:sp>
      <p:sp>
        <p:nvSpPr>
          <p:cNvPr id="3" name="Text 0"/>
          <p:cNvSpPr/>
          <p:nvPr>
            <p:ph idx="101" type="body" hasCustomPrompt="1"/>
          </p:nvPr>
        </p:nvSpPr>
        <p:spPr>
          <a:xfrm>
            <a:off x="548640" y="2880360"/>
            <a:ext cx="5394960" cy="548640"/>
          </a:xfrm>
          <a:prstGeom prst="rect">
            <a:avLst/>
          </a:prstGeom>
          <a:noFill/>
          <a:ln/>
        </p:spPr>
        <p:txBody>
          <a:bodyPr wrap="square" lIns="0" tIns="0" rIns="0" bIns="0" rtlCol="0" anchor="t"/>
          <a:lstStyle/>
          <a:p>
            <a:pPr algn="l" indent="0" marL="0">
              <a:buNone/>
            </a:pPr>
            <a:r>
              <a:rPr lang="en-US" sz="1800" dirty="0">
                <a:solidFill>
                  <a:srgbClr val="BFD3E6"/>
                </a:solidFill>
              </a:rPr>
              <a:t>Week 5 practical: Nmap, Nikto and Burp Suite</a:t>
            </a:r>
            <a:endParaRPr lang="en-US" sz="1800" dirty="0"/>
          </a:p>
        </p:txBody>
      </p:sp>
      <p:sp>
        <p:nvSpPr>
          <p:cNvPr id="4" name="Presenter name"/>
          <p:cNvSpPr txBox="1"/>
          <p:nvPr/>
        </p:nvSpPr>
        <p:spPr>
          <a:xfrm>
            <a:off x="548640" y="3977640"/>
            <a:ext cx="5394960" cy="274320"/>
          </a:xfrm>
          <a:prstGeom prst="rect">
            <a:avLst/>
          </a:prstGeom>
          <a:noFill/>
          <a:ln/>
        </p:spPr>
        <p:txBody>
          <a:bodyPr wrap="square" lIns="0" tIns="0" rIns="0" bIns="0" rtlCol="0" anchor="ctr"/>
          <a:lstStyle/>
          <a:p>
            <a:pPr indent="0" marL="0">
              <a:buNone/>
            </a:pPr>
            <a:r>
              <a:rPr lang="en-US" sz="1600" b="1" dirty="0">
                <a:solidFill>
                  <a:schemeClr val="bg1"/>
                </a:solidFill>
              </a:rPr>
              <a:t>Tanmay Sarkar</a:t>
            </a:r>
            <a:endParaRPr lang="en-US" sz="1600" dirty="0"/>
          </a:p>
        </p:txBody>
      </p:sp>
      <p:sp>
        <p:nvSpPr>
          <p:cNvPr id="5" name="Presenter details"/>
          <p:cNvSpPr txBox="1"/>
          <p:nvPr/>
        </p:nvSpPr>
        <p:spPr>
          <a:xfrm>
            <a:off x="548640" y="4297680"/>
            <a:ext cx="5669280" cy="274320"/>
          </a:xfrm>
          <a:prstGeom prst="rect">
            <a:avLst/>
          </a:prstGeom>
          <a:noFill/>
          <a:ln/>
        </p:spPr>
        <p:txBody>
          <a:bodyPr wrap="square" lIns="0" tIns="0" rIns="0" bIns="0" rtlCol="0" anchor="ctr"/>
          <a:lstStyle/>
          <a:p>
            <a:pPr indent="0" marL="0">
              <a:buNone/>
            </a:pPr>
            <a:r>
              <a:rPr lang="en-US" sz="1200" dirty="0">
                <a:solidFill>
                  <a:srgbClr val="BFD3E6"/>
                </a:solidFill>
              </a:rPr>
              <a:t>B.Tech Computer Science Engineering, Tezpur University  |  2 October 2026</a:t>
            </a:r>
            <a:endParaRPr lang="en-US" sz="1200" dirty="0"/>
          </a:p>
        </p:txBody>
      </p:sp>
      <p:sp>
        <p:nvSpPr>
          <p:cNvPr id="6" name="Hero circle"/>
          <p:cNvSpPr/>
          <p:nvPr/>
        </p:nvSpPr>
        <p:spPr>
          <a:xfrm>
            <a:off x="6400800" y="1371600"/>
            <a:ext cx="2194560" cy="2194560"/>
          </a:xfrm>
          <a:prstGeom prst="ellipse">
            <a:avLst/>
          </a:prstGeom>
          <a:solidFill>
            <a:schemeClr val="accent1"/>
          </a:solidFill>
          <a:ln w="12700">
            <a:solidFill>
              <a:schemeClr val="accent1"/>
            </a:solidFill>
            <a:prstDash val="solid"/>
          </a:ln>
        </p:spPr>
      </p:sp>
      <p:pic>
        <p:nvPicPr>
          <p:cNvPr id="7" name="Image 0" descr="Shield icon">    </p:cNvPr>
          <p:cNvPicPr>
            <a:picLocks noChangeAspect="1"/>
          </p:cNvPicPr>
          <p:nvPr/>
        </p:nvPicPr>
        <p:blipFill>
          <a:blip r:embed="rId1"/>
          <a:stretch>
            <a:fillRect/>
          </a:stretch>
        </p:blipFill>
        <p:spPr>
          <a:xfrm>
            <a:off x="6949440" y="1920240"/>
            <a:ext cx="1097280" cy="1097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3200" b="1" dirty="0">
                <a:solidFill>
                  <a:schemeClr val="tx2"/>
                </a:solidFill>
              </a:rPr>
              <a:t>Scope and authorization</a:t>
            </a:r>
            <a:endParaRPr lang="en-US" sz="3200" dirty="0"/>
          </a:p>
        </p:txBody>
      </p:sp>
      <p:sp>
        <p:nvSpPr>
          <p:cNvPr id="3" name="Scope card 1"/>
          <p:cNvSpPr/>
          <p:nvPr/>
        </p:nvSpPr>
        <p:spPr>
          <a:xfrm>
            <a:off x="457200" y="1097280"/>
            <a:ext cx="4023360" cy="1965960"/>
          </a:xfrm>
          <a:prstGeom prst="roundRect">
            <a:avLst>
              <a:gd name="adj" fmla="val 3721"/>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4" name="Scope icon 1 circle"/>
          <p:cNvSpPr/>
          <p:nvPr/>
        </p:nvSpPr>
        <p:spPr>
          <a:xfrm>
            <a:off x="685800" y="1280160"/>
            <a:ext cx="640080" cy="640080"/>
          </a:xfrm>
          <a:prstGeom prst="ellipse">
            <a:avLst/>
          </a:prstGeom>
          <a:solidFill>
            <a:srgbClr val="00A896"/>
          </a:solidFill>
          <a:ln w="12700">
            <a:solidFill>
              <a:srgbClr val="00A896"/>
            </a:solidFill>
            <a:prstDash val="solid"/>
          </a:ln>
        </p:spPr>
      </p:sp>
      <p:pic>
        <p:nvPicPr>
          <p:cNvPr id="5" name="Image 0" descr="Scope icon 1">    </p:cNvPr>
          <p:cNvPicPr>
            <a:picLocks noChangeAspect="1"/>
          </p:cNvPicPr>
          <p:nvPr/>
        </p:nvPicPr>
        <p:blipFill>
          <a:blip r:embed="rId1"/>
          <a:stretch>
            <a:fillRect/>
          </a:stretch>
        </p:blipFill>
        <p:spPr>
          <a:xfrm>
            <a:off x="845820" y="1440180"/>
            <a:ext cx="320040" cy="320040"/>
          </a:xfrm>
          <a:prstGeom prst="rect">
            <a:avLst/>
          </a:prstGeom>
        </p:spPr>
      </p:pic>
      <p:sp>
        <p:nvSpPr>
          <p:cNvPr id="6" name="Scope heading 1"/>
          <p:cNvSpPr txBox="1"/>
          <p:nvPr/>
        </p:nvSpPr>
        <p:spPr>
          <a:xfrm>
            <a:off x="1508760" y="1298448"/>
            <a:ext cx="2834640" cy="292608"/>
          </a:xfrm>
          <a:prstGeom prst="rect">
            <a:avLst/>
          </a:prstGeom>
          <a:noFill/>
          <a:ln/>
        </p:spPr>
        <p:txBody>
          <a:bodyPr wrap="square" lIns="0" tIns="0" rIns="0" bIns="0" rtlCol="0" anchor="ctr"/>
          <a:lstStyle/>
          <a:p>
            <a:pPr indent="0" marL="0">
              <a:buNone/>
            </a:pPr>
            <a:r>
              <a:rPr lang="en-US" sz="1800" b="1" dirty="0">
                <a:solidFill>
                  <a:schemeClr val="tx2"/>
                </a:solidFill>
              </a:rPr>
              <a:t>Nmap</a:t>
            </a:r>
            <a:endParaRPr lang="en-US" sz="1800" dirty="0"/>
          </a:p>
        </p:txBody>
      </p:sp>
      <p:sp>
        <p:nvSpPr>
          <p:cNvPr id="7" name="Scope target 1"/>
          <p:cNvSpPr txBox="1"/>
          <p:nvPr/>
        </p:nvSpPr>
        <p:spPr>
          <a:xfrm>
            <a:off x="1508760" y="1627632"/>
            <a:ext cx="2834640" cy="274320"/>
          </a:xfrm>
          <a:prstGeom prst="rect">
            <a:avLst/>
          </a:prstGeom>
          <a:noFill/>
          <a:ln/>
        </p:spPr>
        <p:txBody>
          <a:bodyPr wrap="square" lIns="0" tIns="0" rIns="0" bIns="0" rtlCol="0" anchor="ctr"/>
          <a:lstStyle/>
          <a:p>
            <a:pPr indent="0" marL="0">
              <a:buNone/>
            </a:pPr>
            <a:r>
              <a:rPr lang="en-US" sz="1300" b="1" dirty="0">
                <a:solidFill>
                  <a:schemeClr val="accent4"/>
                </a:solidFill>
              </a:rPr>
              <a:t>testphp.vulnweb.com</a:t>
            </a:r>
            <a:endParaRPr lang="en-US" sz="1300" dirty="0"/>
          </a:p>
        </p:txBody>
      </p:sp>
      <p:sp>
        <p:nvSpPr>
          <p:cNvPr id="8" name="Scope description 1"/>
          <p:cNvSpPr txBox="1"/>
          <p:nvPr/>
        </p:nvSpPr>
        <p:spPr>
          <a:xfrm>
            <a:off x="685800" y="2148840"/>
            <a:ext cx="3611880" cy="731520"/>
          </a:xfrm>
          <a:prstGeom prst="rect">
            <a:avLst/>
          </a:prstGeom>
          <a:noFill/>
          <a:ln/>
        </p:spPr>
        <p:txBody>
          <a:bodyPr wrap="square" lIns="0" tIns="0" rIns="0" bIns="0" rtlCol="0" anchor="t"/>
          <a:lstStyle/>
          <a:p>
            <a:pPr indent="0" marL="0">
              <a:buNone/>
            </a:pPr>
            <a:r>
              <a:rPr lang="en-US" sz="1400" dirty="0">
                <a:solidFill>
                  <a:schemeClr val="tx1"/>
                </a:solidFill>
              </a:rPr>
              <a:t>Acunetix public test site, the authorized target for this practical.</a:t>
            </a:r>
            <a:endParaRPr lang="en-US" sz="1400" dirty="0"/>
          </a:p>
        </p:txBody>
      </p:sp>
      <p:sp>
        <p:nvSpPr>
          <p:cNvPr id="9" name="Scope card 2"/>
          <p:cNvSpPr/>
          <p:nvPr/>
        </p:nvSpPr>
        <p:spPr>
          <a:xfrm>
            <a:off x="4663440" y="1097280"/>
            <a:ext cx="4023360" cy="1965960"/>
          </a:xfrm>
          <a:prstGeom prst="roundRect">
            <a:avLst>
              <a:gd name="adj" fmla="val 3721"/>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10" name="Scope icon 2 circle"/>
          <p:cNvSpPr/>
          <p:nvPr/>
        </p:nvSpPr>
        <p:spPr>
          <a:xfrm>
            <a:off x="4892040" y="1280160"/>
            <a:ext cx="640080" cy="640080"/>
          </a:xfrm>
          <a:prstGeom prst="ellipse">
            <a:avLst/>
          </a:prstGeom>
          <a:solidFill>
            <a:srgbClr val="00A896"/>
          </a:solidFill>
          <a:ln w="12700">
            <a:solidFill>
              <a:srgbClr val="00A896"/>
            </a:solidFill>
            <a:prstDash val="solid"/>
          </a:ln>
        </p:spPr>
      </p:sp>
      <p:pic>
        <p:nvPicPr>
          <p:cNvPr id="11" name="Image 1" descr="Scope icon 2">    </p:cNvPr>
          <p:cNvPicPr>
            <a:picLocks noChangeAspect="1"/>
          </p:cNvPicPr>
          <p:nvPr/>
        </p:nvPicPr>
        <p:blipFill>
          <a:blip r:embed="rId2"/>
          <a:stretch>
            <a:fillRect/>
          </a:stretch>
        </p:blipFill>
        <p:spPr>
          <a:xfrm>
            <a:off x="5052060" y="1440180"/>
            <a:ext cx="320040" cy="320040"/>
          </a:xfrm>
          <a:prstGeom prst="rect">
            <a:avLst/>
          </a:prstGeom>
        </p:spPr>
      </p:pic>
      <p:sp>
        <p:nvSpPr>
          <p:cNvPr id="12" name="Scope heading 2"/>
          <p:cNvSpPr txBox="1"/>
          <p:nvPr/>
        </p:nvSpPr>
        <p:spPr>
          <a:xfrm>
            <a:off x="5715000" y="1298448"/>
            <a:ext cx="2834640" cy="292608"/>
          </a:xfrm>
          <a:prstGeom prst="rect">
            <a:avLst/>
          </a:prstGeom>
          <a:noFill/>
          <a:ln/>
        </p:spPr>
        <p:txBody>
          <a:bodyPr wrap="square" lIns="0" tIns="0" rIns="0" bIns="0" rtlCol="0" anchor="ctr"/>
          <a:lstStyle/>
          <a:p>
            <a:pPr indent="0" marL="0">
              <a:buNone/>
            </a:pPr>
            <a:r>
              <a:rPr lang="en-US" sz="1800" b="1" dirty="0">
                <a:solidFill>
                  <a:schemeClr val="tx2"/>
                </a:solidFill>
              </a:rPr>
              <a:t>Nikto and Burp Suite</a:t>
            </a:r>
            <a:endParaRPr lang="en-US" sz="1800" dirty="0"/>
          </a:p>
        </p:txBody>
      </p:sp>
      <p:sp>
        <p:nvSpPr>
          <p:cNvPr id="13" name="Scope target 2"/>
          <p:cNvSpPr txBox="1"/>
          <p:nvPr/>
        </p:nvSpPr>
        <p:spPr>
          <a:xfrm>
            <a:off x="5715000" y="1627632"/>
            <a:ext cx="2834640" cy="274320"/>
          </a:xfrm>
          <a:prstGeom prst="rect">
            <a:avLst/>
          </a:prstGeom>
          <a:noFill/>
          <a:ln/>
        </p:spPr>
        <p:txBody>
          <a:bodyPr wrap="square" lIns="0" tIns="0" rIns="0" bIns="0" rtlCol="0" anchor="ctr"/>
          <a:lstStyle/>
          <a:p>
            <a:pPr indent="0" marL="0">
              <a:buNone/>
            </a:pPr>
            <a:r>
              <a:rPr lang="en-US" sz="1300" b="1" dirty="0">
                <a:solidFill>
                  <a:schemeClr val="accent4"/>
                </a:solidFill>
              </a:rPr>
              <a:t>DVWA at http://127.0.0.1/dvwa/</a:t>
            </a:r>
            <a:endParaRPr lang="en-US" sz="1300" dirty="0"/>
          </a:p>
        </p:txBody>
      </p:sp>
      <p:sp>
        <p:nvSpPr>
          <p:cNvPr id="14" name="Scope description 2"/>
          <p:cNvSpPr txBox="1"/>
          <p:nvPr/>
        </p:nvSpPr>
        <p:spPr>
          <a:xfrm>
            <a:off x="4892040" y="2148840"/>
            <a:ext cx="3611880" cy="731520"/>
          </a:xfrm>
          <a:prstGeom prst="rect">
            <a:avLst/>
          </a:prstGeom>
          <a:noFill/>
          <a:ln/>
        </p:spPr>
        <p:txBody>
          <a:bodyPr wrap="square" lIns="0" tIns="0" rIns="0" bIns="0" rtlCol="0" anchor="t"/>
          <a:lstStyle/>
          <a:p>
            <a:pPr indent="0" marL="0">
              <a:buNone/>
            </a:pPr>
            <a:r>
              <a:rPr lang="en-US" sz="1400" dirty="0">
                <a:solidFill>
                  <a:schemeClr val="tx1"/>
                </a:solidFill>
              </a:rPr>
              <a:t>Installed on my own Kali Linux machine (student-owned environment).</a:t>
            </a:r>
            <a:endParaRPr lang="en-US" sz="1400" dirty="0"/>
          </a:p>
        </p:txBody>
      </p:sp>
      <p:sp>
        <p:nvSpPr>
          <p:cNvPr id="15" name="Out of scope circle"/>
          <p:cNvSpPr/>
          <p:nvPr/>
        </p:nvSpPr>
        <p:spPr>
          <a:xfrm>
            <a:off x="457200" y="3337560"/>
            <a:ext cx="457200" cy="457200"/>
          </a:xfrm>
          <a:prstGeom prst="ellipse">
            <a:avLst/>
          </a:prstGeom>
          <a:solidFill>
            <a:srgbClr val="E4572E"/>
          </a:solidFill>
          <a:ln w="12700">
            <a:solidFill>
              <a:srgbClr val="E4572E"/>
            </a:solidFill>
            <a:prstDash val="solid"/>
          </a:ln>
        </p:spPr>
      </p:sp>
      <p:pic>
        <p:nvPicPr>
          <p:cNvPr id="16" name="Image 2" descr="Out of scope">    </p:cNvPr>
          <p:cNvPicPr>
            <a:picLocks noChangeAspect="1"/>
          </p:cNvPicPr>
          <p:nvPr/>
        </p:nvPicPr>
        <p:blipFill>
          <a:blip r:embed="rId3"/>
          <a:stretch>
            <a:fillRect/>
          </a:stretch>
        </p:blipFill>
        <p:spPr>
          <a:xfrm>
            <a:off x="571500" y="3451860"/>
            <a:ext cx="228600" cy="228600"/>
          </a:xfrm>
          <a:prstGeom prst="rect">
            <a:avLst/>
          </a:prstGeom>
        </p:spPr>
      </p:pic>
      <p:sp>
        <p:nvSpPr>
          <p:cNvPr id="17" name="Out of scope text"/>
          <p:cNvSpPr txBox="1"/>
          <p:nvPr/>
        </p:nvSpPr>
        <p:spPr>
          <a:xfrm>
            <a:off x="1097280" y="3310128"/>
            <a:ext cx="7589520" cy="512064"/>
          </a:xfrm>
          <a:prstGeom prst="rect">
            <a:avLst/>
          </a:prstGeom>
          <a:noFill/>
          <a:ln/>
        </p:spPr>
        <p:txBody>
          <a:bodyPr wrap="square" lIns="0" tIns="0" rIns="0" bIns="0" rtlCol="0" anchor="ctr"/>
          <a:lstStyle/>
          <a:p>
            <a:pPr indent="0" marL="0">
              <a:buNone/>
            </a:pPr>
            <a:r>
              <a:rPr lang="en-US" sz="1400" dirty="0">
                <a:solidFill>
                  <a:schemeClr val="tx1"/>
                </a:solidFill>
              </a:rPr>
              <a:t>Out of scope: other domains or IPs, denial of service, brute force, exploitation, changing or deleting data.</a:t>
            </a:r>
            <a:endParaRPr lang="en-US" sz="1400" dirty="0"/>
          </a:p>
        </p:txBody>
      </p:sp>
      <p:sp>
        <p:nvSpPr>
          <p:cNvPr id="18" name="Environment line"/>
          <p:cNvSpPr txBox="1"/>
          <p:nvPr/>
        </p:nvSpPr>
        <p:spPr>
          <a:xfrm>
            <a:off x="457200" y="4114800"/>
            <a:ext cx="8229600" cy="274320"/>
          </a:xfrm>
          <a:prstGeom prst="rect">
            <a:avLst/>
          </a:prstGeom>
          <a:noFill/>
          <a:ln/>
        </p:spPr>
        <p:txBody>
          <a:bodyPr wrap="square" lIns="0" tIns="0" rIns="0" bIns="0" rtlCol="0" anchor="ctr"/>
          <a:lstStyle/>
          <a:p>
            <a:pPr indent="0" marL="0">
              <a:buNone/>
            </a:pPr>
            <a:r>
              <a:rPr lang="en-US" sz="1200" dirty="0">
                <a:solidFill>
                  <a:schemeClr val="accent5"/>
                </a:solidFill>
              </a:rPr>
              <a:t>Environment: Kali Linux  |  Nmap 7.98  |  Nikto 2.6.0  |  Burp Suite Community 2026.7.2  |  Apache 2.4.68  |  MariaDB 11.8.8</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3200" b="1" dirty="0">
                <a:solidFill>
                  <a:schemeClr val="tx2"/>
                </a:solidFill>
              </a:rPr>
              <a:t>VAPT workflow used</a:t>
            </a:r>
            <a:endParaRPr lang="en-US" sz="3200" dirty="0"/>
          </a:p>
        </p:txBody>
      </p:sp>
      <p:sp>
        <p:nvSpPr>
          <p:cNvPr id="3" name="Step card 1"/>
          <p:cNvSpPr/>
          <p:nvPr/>
        </p:nvSpPr>
        <p:spPr>
          <a:xfrm>
            <a:off x="457200" y="1280160"/>
            <a:ext cx="1280160" cy="2468880"/>
          </a:xfrm>
          <a:prstGeom prst="roundRect">
            <a:avLst>
              <a:gd name="adj" fmla="val 5714"/>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4" name="Step icon 1 circle"/>
          <p:cNvSpPr/>
          <p:nvPr/>
        </p:nvSpPr>
        <p:spPr>
          <a:xfrm>
            <a:off x="731520" y="1463040"/>
            <a:ext cx="731520" cy="731520"/>
          </a:xfrm>
          <a:prstGeom prst="ellipse">
            <a:avLst/>
          </a:prstGeom>
          <a:solidFill>
            <a:srgbClr val="00A896"/>
          </a:solidFill>
          <a:ln w="12700">
            <a:solidFill>
              <a:srgbClr val="00A896"/>
            </a:solidFill>
            <a:prstDash val="solid"/>
          </a:ln>
        </p:spPr>
      </p:sp>
      <p:pic>
        <p:nvPicPr>
          <p:cNvPr id="5" name="Image 0" descr="Step icon 1">    </p:cNvPr>
          <p:cNvPicPr>
            <a:picLocks noChangeAspect="1"/>
          </p:cNvPicPr>
          <p:nvPr/>
        </p:nvPicPr>
        <p:blipFill>
          <a:blip r:embed="rId1"/>
          <a:stretch>
            <a:fillRect/>
          </a:stretch>
        </p:blipFill>
        <p:spPr>
          <a:xfrm>
            <a:off x="914400" y="1645920"/>
            <a:ext cx="365760" cy="365760"/>
          </a:xfrm>
          <a:prstGeom prst="rect">
            <a:avLst/>
          </a:prstGeom>
        </p:spPr>
      </p:pic>
      <p:sp>
        <p:nvSpPr>
          <p:cNvPr id="6" name="Step number 1"/>
          <p:cNvSpPr txBox="1"/>
          <p:nvPr/>
        </p:nvSpPr>
        <p:spPr>
          <a:xfrm>
            <a:off x="548640" y="2331720"/>
            <a:ext cx="1097280" cy="274320"/>
          </a:xfrm>
          <a:prstGeom prst="rect">
            <a:avLst/>
          </a:prstGeom>
          <a:noFill/>
          <a:ln/>
        </p:spPr>
        <p:txBody>
          <a:bodyPr wrap="square" lIns="0" tIns="0" rIns="0" bIns="0" rtlCol="0" anchor="ctr"/>
          <a:lstStyle/>
          <a:p>
            <a:pPr algn="ctr" indent="0" marL="0">
              <a:buNone/>
            </a:pPr>
            <a:r>
              <a:rPr lang="en-US" sz="1200" b="1" dirty="0">
                <a:solidFill>
                  <a:schemeClr val="accent5"/>
                </a:solidFill>
              </a:rPr>
              <a:t>1</a:t>
            </a:r>
            <a:endParaRPr lang="en-US" sz="1200" dirty="0"/>
          </a:p>
        </p:txBody>
      </p:sp>
      <p:sp>
        <p:nvSpPr>
          <p:cNvPr id="7" name="Step title 1"/>
          <p:cNvSpPr txBox="1"/>
          <p:nvPr/>
        </p:nvSpPr>
        <p:spPr>
          <a:xfrm>
            <a:off x="548640" y="2606040"/>
            <a:ext cx="1097280" cy="320040"/>
          </a:xfrm>
          <a:prstGeom prst="rect">
            <a:avLst/>
          </a:prstGeom>
          <a:noFill/>
          <a:ln/>
        </p:spPr>
        <p:txBody>
          <a:bodyPr wrap="square" lIns="0" tIns="0" rIns="0" bIns="0" rtlCol="0" anchor="ctr"/>
          <a:lstStyle/>
          <a:p>
            <a:pPr algn="ctr" indent="0" marL="0">
              <a:buNone/>
            </a:pPr>
            <a:r>
              <a:rPr lang="en-US" sz="1600" b="1" dirty="0">
                <a:solidFill>
                  <a:schemeClr val="tx2"/>
                </a:solidFill>
              </a:rPr>
              <a:t>Plan</a:t>
            </a:r>
            <a:endParaRPr lang="en-US" sz="1600" dirty="0"/>
          </a:p>
        </p:txBody>
      </p:sp>
      <p:sp>
        <p:nvSpPr>
          <p:cNvPr id="8" name="Step text 1"/>
          <p:cNvSpPr txBox="1"/>
          <p:nvPr/>
        </p:nvSpPr>
        <p:spPr>
          <a:xfrm>
            <a:off x="566928" y="2944368"/>
            <a:ext cx="1060704" cy="685800"/>
          </a:xfrm>
          <a:prstGeom prst="rect">
            <a:avLst/>
          </a:prstGeom>
          <a:noFill/>
          <a:ln/>
        </p:spPr>
        <p:txBody>
          <a:bodyPr wrap="square" lIns="0" tIns="0" rIns="0" bIns="0" rtlCol="0" anchor="t"/>
          <a:lstStyle/>
          <a:p>
            <a:pPr algn="ctr" indent="0" marL="0">
              <a:buNone/>
            </a:pPr>
            <a:r>
              <a:rPr lang="en-US" sz="1200" dirty="0">
                <a:solidFill>
                  <a:schemeClr val="tx1"/>
                </a:solidFill>
              </a:rPr>
              <a:t>Confirm targets, tools and limits</a:t>
            </a:r>
            <a:endParaRPr lang="en-US" sz="1200" dirty="0"/>
          </a:p>
        </p:txBody>
      </p:sp>
      <p:sp>
        <p:nvSpPr>
          <p:cNvPr id="9" name="Step card 2"/>
          <p:cNvSpPr/>
          <p:nvPr/>
        </p:nvSpPr>
        <p:spPr>
          <a:xfrm>
            <a:off x="1828800" y="1280160"/>
            <a:ext cx="1280160" cy="2468880"/>
          </a:xfrm>
          <a:prstGeom prst="roundRect">
            <a:avLst>
              <a:gd name="adj" fmla="val 5714"/>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10" name="Step icon 2 circle"/>
          <p:cNvSpPr/>
          <p:nvPr/>
        </p:nvSpPr>
        <p:spPr>
          <a:xfrm>
            <a:off x="2103120" y="1463040"/>
            <a:ext cx="731520" cy="731520"/>
          </a:xfrm>
          <a:prstGeom prst="ellipse">
            <a:avLst/>
          </a:prstGeom>
          <a:solidFill>
            <a:srgbClr val="3A7CA5"/>
          </a:solidFill>
          <a:ln w="12700">
            <a:solidFill>
              <a:srgbClr val="3A7CA5"/>
            </a:solidFill>
            <a:prstDash val="solid"/>
          </a:ln>
        </p:spPr>
      </p:sp>
      <p:pic>
        <p:nvPicPr>
          <p:cNvPr id="11" name="Image 1" descr="Step icon 2">    </p:cNvPr>
          <p:cNvPicPr>
            <a:picLocks noChangeAspect="1"/>
          </p:cNvPicPr>
          <p:nvPr/>
        </p:nvPicPr>
        <p:blipFill>
          <a:blip r:embed="rId2"/>
          <a:stretch>
            <a:fillRect/>
          </a:stretch>
        </p:blipFill>
        <p:spPr>
          <a:xfrm>
            <a:off x="2286000" y="1645920"/>
            <a:ext cx="365760" cy="365760"/>
          </a:xfrm>
          <a:prstGeom prst="rect">
            <a:avLst/>
          </a:prstGeom>
        </p:spPr>
      </p:pic>
      <p:sp>
        <p:nvSpPr>
          <p:cNvPr id="12" name="Step number 2"/>
          <p:cNvSpPr txBox="1"/>
          <p:nvPr/>
        </p:nvSpPr>
        <p:spPr>
          <a:xfrm>
            <a:off x="1920240" y="2331720"/>
            <a:ext cx="1097280" cy="274320"/>
          </a:xfrm>
          <a:prstGeom prst="rect">
            <a:avLst/>
          </a:prstGeom>
          <a:noFill/>
          <a:ln/>
        </p:spPr>
        <p:txBody>
          <a:bodyPr wrap="square" lIns="0" tIns="0" rIns="0" bIns="0" rtlCol="0" anchor="ctr"/>
          <a:lstStyle/>
          <a:p>
            <a:pPr algn="ctr" indent="0" marL="0">
              <a:buNone/>
            </a:pPr>
            <a:r>
              <a:rPr lang="en-US" sz="1200" b="1" dirty="0">
                <a:solidFill>
                  <a:schemeClr val="accent5"/>
                </a:solidFill>
              </a:rPr>
              <a:t>2</a:t>
            </a:r>
            <a:endParaRPr lang="en-US" sz="1200" dirty="0"/>
          </a:p>
        </p:txBody>
      </p:sp>
      <p:sp>
        <p:nvSpPr>
          <p:cNvPr id="13" name="Step title 2"/>
          <p:cNvSpPr txBox="1"/>
          <p:nvPr/>
        </p:nvSpPr>
        <p:spPr>
          <a:xfrm>
            <a:off x="1920240" y="2606040"/>
            <a:ext cx="1097280" cy="320040"/>
          </a:xfrm>
          <a:prstGeom prst="rect">
            <a:avLst/>
          </a:prstGeom>
          <a:noFill/>
          <a:ln/>
        </p:spPr>
        <p:txBody>
          <a:bodyPr wrap="square" lIns="0" tIns="0" rIns="0" bIns="0" rtlCol="0" anchor="ctr"/>
          <a:lstStyle/>
          <a:p>
            <a:pPr algn="ctr" indent="0" marL="0">
              <a:buNone/>
            </a:pPr>
            <a:r>
              <a:rPr lang="en-US" sz="1600" b="1" dirty="0">
                <a:solidFill>
                  <a:schemeClr val="tx2"/>
                </a:solidFill>
              </a:rPr>
              <a:t>Discover</a:t>
            </a:r>
            <a:endParaRPr lang="en-US" sz="1600" dirty="0"/>
          </a:p>
        </p:txBody>
      </p:sp>
      <p:sp>
        <p:nvSpPr>
          <p:cNvPr id="14" name="Step text 2"/>
          <p:cNvSpPr txBox="1"/>
          <p:nvPr/>
        </p:nvSpPr>
        <p:spPr>
          <a:xfrm>
            <a:off x="1938528" y="2944368"/>
            <a:ext cx="1060704" cy="685800"/>
          </a:xfrm>
          <a:prstGeom prst="rect">
            <a:avLst/>
          </a:prstGeom>
          <a:noFill/>
          <a:ln/>
        </p:spPr>
        <p:txBody>
          <a:bodyPr wrap="square" lIns="0" tIns="0" rIns="0" bIns="0" rtlCol="0" anchor="t"/>
          <a:lstStyle/>
          <a:p>
            <a:pPr algn="ctr" indent="0" marL="0">
              <a:buNone/>
            </a:pPr>
            <a:r>
              <a:rPr lang="en-US" sz="1200" dirty="0">
                <a:solidFill>
                  <a:schemeClr val="tx1"/>
                </a:solidFill>
              </a:rPr>
              <a:t>Ports, services, local stack</a:t>
            </a:r>
            <a:endParaRPr lang="en-US" sz="1200" dirty="0"/>
          </a:p>
        </p:txBody>
      </p:sp>
      <p:sp>
        <p:nvSpPr>
          <p:cNvPr id="15" name="Step card 3"/>
          <p:cNvSpPr/>
          <p:nvPr/>
        </p:nvSpPr>
        <p:spPr>
          <a:xfrm>
            <a:off x="3200400" y="1280160"/>
            <a:ext cx="1280160" cy="2468880"/>
          </a:xfrm>
          <a:prstGeom prst="roundRect">
            <a:avLst>
              <a:gd name="adj" fmla="val 5714"/>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16" name="Step icon 3 circle"/>
          <p:cNvSpPr/>
          <p:nvPr/>
        </p:nvSpPr>
        <p:spPr>
          <a:xfrm>
            <a:off x="3474720" y="1463040"/>
            <a:ext cx="731520" cy="731520"/>
          </a:xfrm>
          <a:prstGeom prst="ellipse">
            <a:avLst/>
          </a:prstGeom>
          <a:solidFill>
            <a:srgbClr val="00A896"/>
          </a:solidFill>
          <a:ln w="12700">
            <a:solidFill>
              <a:srgbClr val="00A896"/>
            </a:solidFill>
            <a:prstDash val="solid"/>
          </a:ln>
        </p:spPr>
      </p:sp>
      <p:pic>
        <p:nvPicPr>
          <p:cNvPr id="17" name="Image 2" descr="Step icon 3">    </p:cNvPr>
          <p:cNvPicPr>
            <a:picLocks noChangeAspect="1"/>
          </p:cNvPicPr>
          <p:nvPr/>
        </p:nvPicPr>
        <p:blipFill>
          <a:blip r:embed="rId3"/>
          <a:stretch>
            <a:fillRect/>
          </a:stretch>
        </p:blipFill>
        <p:spPr>
          <a:xfrm>
            <a:off x="3657600" y="1645920"/>
            <a:ext cx="365760" cy="365760"/>
          </a:xfrm>
          <a:prstGeom prst="rect">
            <a:avLst/>
          </a:prstGeom>
        </p:spPr>
      </p:pic>
      <p:sp>
        <p:nvSpPr>
          <p:cNvPr id="18" name="Step number 3"/>
          <p:cNvSpPr txBox="1"/>
          <p:nvPr/>
        </p:nvSpPr>
        <p:spPr>
          <a:xfrm>
            <a:off x="3291840" y="2331720"/>
            <a:ext cx="1097280" cy="274320"/>
          </a:xfrm>
          <a:prstGeom prst="rect">
            <a:avLst/>
          </a:prstGeom>
          <a:noFill/>
          <a:ln/>
        </p:spPr>
        <p:txBody>
          <a:bodyPr wrap="square" lIns="0" tIns="0" rIns="0" bIns="0" rtlCol="0" anchor="ctr"/>
          <a:lstStyle/>
          <a:p>
            <a:pPr algn="ctr" indent="0" marL="0">
              <a:buNone/>
            </a:pPr>
            <a:r>
              <a:rPr lang="en-US" sz="1200" b="1" dirty="0">
                <a:solidFill>
                  <a:schemeClr val="accent5"/>
                </a:solidFill>
              </a:rPr>
              <a:t>3</a:t>
            </a:r>
            <a:endParaRPr lang="en-US" sz="1200" dirty="0"/>
          </a:p>
        </p:txBody>
      </p:sp>
      <p:sp>
        <p:nvSpPr>
          <p:cNvPr id="19" name="Step title 3"/>
          <p:cNvSpPr txBox="1"/>
          <p:nvPr/>
        </p:nvSpPr>
        <p:spPr>
          <a:xfrm>
            <a:off x="3291840" y="2606040"/>
            <a:ext cx="1097280" cy="320040"/>
          </a:xfrm>
          <a:prstGeom prst="rect">
            <a:avLst/>
          </a:prstGeom>
          <a:noFill/>
          <a:ln/>
        </p:spPr>
        <p:txBody>
          <a:bodyPr wrap="square" lIns="0" tIns="0" rIns="0" bIns="0" rtlCol="0" anchor="ctr"/>
          <a:lstStyle/>
          <a:p>
            <a:pPr algn="ctr" indent="0" marL="0">
              <a:buNone/>
            </a:pPr>
            <a:r>
              <a:rPr lang="en-US" sz="1600" b="1" dirty="0">
                <a:solidFill>
                  <a:schemeClr val="tx2"/>
                </a:solidFill>
              </a:rPr>
              <a:t>Scan</a:t>
            </a:r>
            <a:endParaRPr lang="en-US" sz="1600" dirty="0"/>
          </a:p>
        </p:txBody>
      </p:sp>
      <p:sp>
        <p:nvSpPr>
          <p:cNvPr id="20" name="Step text 3"/>
          <p:cNvSpPr txBox="1"/>
          <p:nvPr/>
        </p:nvSpPr>
        <p:spPr>
          <a:xfrm>
            <a:off x="3310128" y="2944368"/>
            <a:ext cx="1060704" cy="685800"/>
          </a:xfrm>
          <a:prstGeom prst="rect">
            <a:avLst/>
          </a:prstGeom>
          <a:noFill/>
          <a:ln/>
        </p:spPr>
        <p:txBody>
          <a:bodyPr wrap="square" lIns="0" tIns="0" rIns="0" bIns="0" rtlCol="0" anchor="t"/>
          <a:lstStyle/>
          <a:p>
            <a:pPr algn="ctr" indent="0" marL="0">
              <a:buNone/>
            </a:pPr>
            <a:r>
              <a:rPr lang="en-US" sz="1200" dirty="0">
                <a:solidFill>
                  <a:schemeClr val="tx1"/>
                </a:solidFill>
              </a:rPr>
              <a:t>Nikto and Burp Suite</a:t>
            </a:r>
            <a:endParaRPr lang="en-US" sz="1200" dirty="0"/>
          </a:p>
        </p:txBody>
      </p:sp>
      <p:sp>
        <p:nvSpPr>
          <p:cNvPr id="21" name="Step card 4"/>
          <p:cNvSpPr/>
          <p:nvPr/>
        </p:nvSpPr>
        <p:spPr>
          <a:xfrm>
            <a:off x="4572000" y="1280160"/>
            <a:ext cx="1280160" cy="2468880"/>
          </a:xfrm>
          <a:prstGeom prst="roundRect">
            <a:avLst>
              <a:gd name="adj" fmla="val 5714"/>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22" name="Step icon 4 circle"/>
          <p:cNvSpPr/>
          <p:nvPr/>
        </p:nvSpPr>
        <p:spPr>
          <a:xfrm>
            <a:off x="4846320" y="1463040"/>
            <a:ext cx="731520" cy="731520"/>
          </a:xfrm>
          <a:prstGeom prst="ellipse">
            <a:avLst/>
          </a:prstGeom>
          <a:solidFill>
            <a:srgbClr val="3A7CA5"/>
          </a:solidFill>
          <a:ln w="12700">
            <a:solidFill>
              <a:srgbClr val="3A7CA5"/>
            </a:solidFill>
            <a:prstDash val="solid"/>
          </a:ln>
        </p:spPr>
      </p:sp>
      <p:pic>
        <p:nvPicPr>
          <p:cNvPr id="23" name="Image 3" descr="Step icon 4">    </p:cNvPr>
          <p:cNvPicPr>
            <a:picLocks noChangeAspect="1"/>
          </p:cNvPicPr>
          <p:nvPr/>
        </p:nvPicPr>
        <p:blipFill>
          <a:blip r:embed="rId4"/>
          <a:stretch>
            <a:fillRect/>
          </a:stretch>
        </p:blipFill>
        <p:spPr>
          <a:xfrm>
            <a:off x="5029200" y="1645920"/>
            <a:ext cx="365760" cy="365760"/>
          </a:xfrm>
          <a:prstGeom prst="rect">
            <a:avLst/>
          </a:prstGeom>
        </p:spPr>
      </p:pic>
      <p:sp>
        <p:nvSpPr>
          <p:cNvPr id="24" name="Step number 4"/>
          <p:cNvSpPr txBox="1"/>
          <p:nvPr/>
        </p:nvSpPr>
        <p:spPr>
          <a:xfrm>
            <a:off x="4663440" y="2331720"/>
            <a:ext cx="1097280" cy="274320"/>
          </a:xfrm>
          <a:prstGeom prst="rect">
            <a:avLst/>
          </a:prstGeom>
          <a:noFill/>
          <a:ln/>
        </p:spPr>
        <p:txBody>
          <a:bodyPr wrap="square" lIns="0" tIns="0" rIns="0" bIns="0" rtlCol="0" anchor="ctr"/>
          <a:lstStyle/>
          <a:p>
            <a:pPr algn="ctr" indent="0" marL="0">
              <a:buNone/>
            </a:pPr>
            <a:r>
              <a:rPr lang="en-US" sz="1200" b="1" dirty="0">
                <a:solidFill>
                  <a:schemeClr val="accent5"/>
                </a:solidFill>
              </a:rPr>
              <a:t>4</a:t>
            </a:r>
            <a:endParaRPr lang="en-US" sz="1200" dirty="0"/>
          </a:p>
        </p:txBody>
      </p:sp>
      <p:sp>
        <p:nvSpPr>
          <p:cNvPr id="25" name="Step title 4"/>
          <p:cNvSpPr txBox="1"/>
          <p:nvPr/>
        </p:nvSpPr>
        <p:spPr>
          <a:xfrm>
            <a:off x="4663440" y="2606040"/>
            <a:ext cx="1097280" cy="320040"/>
          </a:xfrm>
          <a:prstGeom prst="rect">
            <a:avLst/>
          </a:prstGeom>
          <a:noFill/>
          <a:ln/>
        </p:spPr>
        <p:txBody>
          <a:bodyPr wrap="square" lIns="0" tIns="0" rIns="0" bIns="0" rtlCol="0" anchor="ctr"/>
          <a:lstStyle/>
          <a:p>
            <a:pPr algn="ctr" indent="0" marL="0">
              <a:buNone/>
            </a:pPr>
            <a:r>
              <a:rPr lang="en-US" sz="1600" b="1" dirty="0">
                <a:solidFill>
                  <a:schemeClr val="tx2"/>
                </a:solidFill>
              </a:rPr>
              <a:t>Validate</a:t>
            </a:r>
            <a:endParaRPr lang="en-US" sz="1600" dirty="0"/>
          </a:p>
        </p:txBody>
      </p:sp>
      <p:sp>
        <p:nvSpPr>
          <p:cNvPr id="26" name="Step text 4"/>
          <p:cNvSpPr txBox="1"/>
          <p:nvPr/>
        </p:nvSpPr>
        <p:spPr>
          <a:xfrm>
            <a:off x="4681728" y="2944368"/>
            <a:ext cx="1060704" cy="685800"/>
          </a:xfrm>
          <a:prstGeom prst="rect">
            <a:avLst/>
          </a:prstGeom>
          <a:noFill/>
          <a:ln/>
        </p:spPr>
        <p:txBody>
          <a:bodyPr wrap="square" lIns="0" tIns="0" rIns="0" bIns="0" rtlCol="0" anchor="t"/>
          <a:lstStyle/>
          <a:p>
            <a:pPr algn="ctr" indent="0" marL="0">
              <a:buNone/>
            </a:pPr>
            <a:r>
              <a:rPr lang="en-US" sz="1200" dirty="0">
                <a:solidFill>
                  <a:schemeClr val="tx1"/>
                </a:solidFill>
              </a:rPr>
              <a:t>Re-run, confirm with curl</a:t>
            </a:r>
            <a:endParaRPr lang="en-US" sz="1200" dirty="0"/>
          </a:p>
        </p:txBody>
      </p:sp>
      <p:sp>
        <p:nvSpPr>
          <p:cNvPr id="27" name="Step card 5"/>
          <p:cNvSpPr/>
          <p:nvPr/>
        </p:nvSpPr>
        <p:spPr>
          <a:xfrm>
            <a:off x="5943600" y="1280160"/>
            <a:ext cx="1280160" cy="2468880"/>
          </a:xfrm>
          <a:prstGeom prst="roundRect">
            <a:avLst>
              <a:gd name="adj" fmla="val 5714"/>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28" name="Step icon 5 circle"/>
          <p:cNvSpPr/>
          <p:nvPr/>
        </p:nvSpPr>
        <p:spPr>
          <a:xfrm>
            <a:off x="6217920" y="1463040"/>
            <a:ext cx="731520" cy="731520"/>
          </a:xfrm>
          <a:prstGeom prst="ellipse">
            <a:avLst/>
          </a:prstGeom>
          <a:solidFill>
            <a:srgbClr val="00A896"/>
          </a:solidFill>
          <a:ln w="12700">
            <a:solidFill>
              <a:srgbClr val="00A896"/>
            </a:solidFill>
            <a:prstDash val="solid"/>
          </a:ln>
        </p:spPr>
      </p:sp>
      <p:pic>
        <p:nvPicPr>
          <p:cNvPr id="29" name="Image 4" descr="Step icon 5">    </p:cNvPr>
          <p:cNvPicPr>
            <a:picLocks noChangeAspect="1"/>
          </p:cNvPicPr>
          <p:nvPr/>
        </p:nvPicPr>
        <p:blipFill>
          <a:blip r:embed="rId5"/>
          <a:stretch>
            <a:fillRect/>
          </a:stretch>
        </p:blipFill>
        <p:spPr>
          <a:xfrm>
            <a:off x="6400800" y="1645920"/>
            <a:ext cx="365760" cy="365760"/>
          </a:xfrm>
          <a:prstGeom prst="rect">
            <a:avLst/>
          </a:prstGeom>
        </p:spPr>
      </p:pic>
      <p:sp>
        <p:nvSpPr>
          <p:cNvPr id="30" name="Step number 5"/>
          <p:cNvSpPr txBox="1"/>
          <p:nvPr/>
        </p:nvSpPr>
        <p:spPr>
          <a:xfrm>
            <a:off x="6035040" y="2331720"/>
            <a:ext cx="1097280" cy="274320"/>
          </a:xfrm>
          <a:prstGeom prst="rect">
            <a:avLst/>
          </a:prstGeom>
          <a:noFill/>
          <a:ln/>
        </p:spPr>
        <p:txBody>
          <a:bodyPr wrap="square" lIns="0" tIns="0" rIns="0" bIns="0" rtlCol="0" anchor="ctr"/>
          <a:lstStyle/>
          <a:p>
            <a:pPr algn="ctr" indent="0" marL="0">
              <a:buNone/>
            </a:pPr>
            <a:r>
              <a:rPr lang="en-US" sz="1200" b="1" dirty="0">
                <a:solidFill>
                  <a:schemeClr val="accent5"/>
                </a:solidFill>
              </a:rPr>
              <a:t>5</a:t>
            </a:r>
            <a:endParaRPr lang="en-US" sz="1200" dirty="0"/>
          </a:p>
        </p:txBody>
      </p:sp>
      <p:sp>
        <p:nvSpPr>
          <p:cNvPr id="31" name="Step title 5"/>
          <p:cNvSpPr txBox="1"/>
          <p:nvPr/>
        </p:nvSpPr>
        <p:spPr>
          <a:xfrm>
            <a:off x="6035040" y="2606040"/>
            <a:ext cx="1097280" cy="320040"/>
          </a:xfrm>
          <a:prstGeom prst="rect">
            <a:avLst/>
          </a:prstGeom>
          <a:noFill/>
          <a:ln/>
        </p:spPr>
        <p:txBody>
          <a:bodyPr wrap="square" lIns="0" tIns="0" rIns="0" bIns="0" rtlCol="0" anchor="ctr"/>
          <a:lstStyle/>
          <a:p>
            <a:pPr algn="ctr" indent="0" marL="0">
              <a:buNone/>
            </a:pPr>
            <a:r>
              <a:rPr lang="en-US" sz="1600" b="1" dirty="0">
                <a:solidFill>
                  <a:schemeClr val="tx2"/>
                </a:solidFill>
              </a:rPr>
              <a:t>Rate</a:t>
            </a:r>
            <a:endParaRPr lang="en-US" sz="1600" dirty="0"/>
          </a:p>
        </p:txBody>
      </p:sp>
      <p:sp>
        <p:nvSpPr>
          <p:cNvPr id="32" name="Step text 5"/>
          <p:cNvSpPr txBox="1"/>
          <p:nvPr/>
        </p:nvSpPr>
        <p:spPr>
          <a:xfrm>
            <a:off x="6053328" y="2944368"/>
            <a:ext cx="1060704" cy="685800"/>
          </a:xfrm>
          <a:prstGeom prst="rect">
            <a:avLst/>
          </a:prstGeom>
          <a:noFill/>
          <a:ln/>
        </p:spPr>
        <p:txBody>
          <a:bodyPr wrap="square" lIns="0" tIns="0" rIns="0" bIns="0" rtlCol="0" anchor="t"/>
          <a:lstStyle/>
          <a:p>
            <a:pPr algn="ctr" indent="0" marL="0">
              <a:buNone/>
            </a:pPr>
            <a:r>
              <a:rPr lang="en-US" sz="1200" dirty="0">
                <a:solidFill>
                  <a:schemeClr val="tx1"/>
                </a:solidFill>
              </a:rPr>
              <a:t>Impact, likelihood, evidence</a:t>
            </a:r>
            <a:endParaRPr lang="en-US" sz="1200" dirty="0"/>
          </a:p>
        </p:txBody>
      </p:sp>
      <p:sp>
        <p:nvSpPr>
          <p:cNvPr id="33" name="Step card 6"/>
          <p:cNvSpPr/>
          <p:nvPr/>
        </p:nvSpPr>
        <p:spPr>
          <a:xfrm>
            <a:off x="7315200" y="1280160"/>
            <a:ext cx="1280160" cy="2468880"/>
          </a:xfrm>
          <a:prstGeom prst="roundRect">
            <a:avLst>
              <a:gd name="adj" fmla="val 5714"/>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34" name="Step icon 6 circle"/>
          <p:cNvSpPr/>
          <p:nvPr/>
        </p:nvSpPr>
        <p:spPr>
          <a:xfrm>
            <a:off x="7589520" y="1463040"/>
            <a:ext cx="731520" cy="731520"/>
          </a:xfrm>
          <a:prstGeom prst="ellipse">
            <a:avLst/>
          </a:prstGeom>
          <a:solidFill>
            <a:srgbClr val="3A7CA5"/>
          </a:solidFill>
          <a:ln w="12700">
            <a:solidFill>
              <a:srgbClr val="3A7CA5"/>
            </a:solidFill>
            <a:prstDash val="solid"/>
          </a:ln>
        </p:spPr>
      </p:sp>
      <p:pic>
        <p:nvPicPr>
          <p:cNvPr id="35" name="Image 5" descr="Step icon 6">    </p:cNvPr>
          <p:cNvPicPr>
            <a:picLocks noChangeAspect="1"/>
          </p:cNvPicPr>
          <p:nvPr/>
        </p:nvPicPr>
        <p:blipFill>
          <a:blip r:embed="rId6"/>
          <a:stretch>
            <a:fillRect/>
          </a:stretch>
        </p:blipFill>
        <p:spPr>
          <a:xfrm>
            <a:off x="7772400" y="1645920"/>
            <a:ext cx="365760" cy="365760"/>
          </a:xfrm>
          <a:prstGeom prst="rect">
            <a:avLst/>
          </a:prstGeom>
        </p:spPr>
      </p:pic>
      <p:sp>
        <p:nvSpPr>
          <p:cNvPr id="36" name="Step number 6"/>
          <p:cNvSpPr txBox="1"/>
          <p:nvPr/>
        </p:nvSpPr>
        <p:spPr>
          <a:xfrm>
            <a:off x="7406640" y="2331720"/>
            <a:ext cx="1097280" cy="274320"/>
          </a:xfrm>
          <a:prstGeom prst="rect">
            <a:avLst/>
          </a:prstGeom>
          <a:noFill/>
          <a:ln/>
        </p:spPr>
        <p:txBody>
          <a:bodyPr wrap="square" lIns="0" tIns="0" rIns="0" bIns="0" rtlCol="0" anchor="ctr"/>
          <a:lstStyle/>
          <a:p>
            <a:pPr algn="ctr" indent="0" marL="0">
              <a:buNone/>
            </a:pPr>
            <a:r>
              <a:rPr lang="en-US" sz="1200" b="1" dirty="0">
                <a:solidFill>
                  <a:schemeClr val="accent5"/>
                </a:solidFill>
              </a:rPr>
              <a:t>6</a:t>
            </a:r>
            <a:endParaRPr lang="en-US" sz="1200" dirty="0"/>
          </a:p>
        </p:txBody>
      </p:sp>
      <p:sp>
        <p:nvSpPr>
          <p:cNvPr id="37" name="Step title 6"/>
          <p:cNvSpPr txBox="1"/>
          <p:nvPr/>
        </p:nvSpPr>
        <p:spPr>
          <a:xfrm>
            <a:off x="7406640" y="2606040"/>
            <a:ext cx="1097280" cy="320040"/>
          </a:xfrm>
          <a:prstGeom prst="rect">
            <a:avLst/>
          </a:prstGeom>
          <a:noFill/>
          <a:ln/>
        </p:spPr>
        <p:txBody>
          <a:bodyPr wrap="square" lIns="0" tIns="0" rIns="0" bIns="0" rtlCol="0" anchor="ctr"/>
          <a:lstStyle/>
          <a:p>
            <a:pPr algn="ctr" indent="0" marL="0">
              <a:buNone/>
            </a:pPr>
            <a:r>
              <a:rPr lang="en-US" sz="1600" b="1" dirty="0">
                <a:solidFill>
                  <a:schemeClr val="tx2"/>
                </a:solidFill>
              </a:rPr>
              <a:t>Report</a:t>
            </a:r>
            <a:endParaRPr lang="en-US" sz="1600" dirty="0"/>
          </a:p>
        </p:txBody>
      </p:sp>
      <p:sp>
        <p:nvSpPr>
          <p:cNvPr id="38" name="Step text 6"/>
          <p:cNvSpPr txBox="1"/>
          <p:nvPr/>
        </p:nvSpPr>
        <p:spPr>
          <a:xfrm>
            <a:off x="7424928" y="2944368"/>
            <a:ext cx="1060704" cy="685800"/>
          </a:xfrm>
          <a:prstGeom prst="rect">
            <a:avLst/>
          </a:prstGeom>
          <a:noFill/>
          <a:ln/>
        </p:spPr>
        <p:txBody>
          <a:bodyPr wrap="square" lIns="0" tIns="0" rIns="0" bIns="0" rtlCol="0" anchor="t"/>
          <a:lstStyle/>
          <a:p>
            <a:pPr algn="ctr" indent="0" marL="0">
              <a:buNone/>
            </a:pPr>
            <a:r>
              <a:rPr lang="en-US" sz="1200" dirty="0">
                <a:solidFill>
                  <a:schemeClr val="tx1"/>
                </a:solidFill>
              </a:rPr>
              <a:t>Evidence and fixes</a:t>
            </a:r>
            <a:endParaRPr lang="en-US" sz="1200" dirty="0"/>
          </a:p>
        </p:txBody>
      </p:sp>
      <p:sp>
        <p:nvSpPr>
          <p:cNvPr id="39" name="Workflow takeaway"/>
          <p:cNvSpPr txBox="1"/>
          <p:nvPr/>
        </p:nvSpPr>
        <p:spPr>
          <a:xfrm>
            <a:off x="457200" y="4023360"/>
            <a:ext cx="8229600" cy="365760"/>
          </a:xfrm>
          <a:prstGeom prst="rect">
            <a:avLst/>
          </a:prstGeom>
          <a:noFill/>
          <a:ln/>
        </p:spPr>
        <p:txBody>
          <a:bodyPr wrap="square" lIns="0" tIns="0" rIns="0" bIns="0" rtlCol="0" anchor="ctr"/>
          <a:lstStyle/>
          <a:p>
            <a:pPr indent="0" marL="0">
              <a:buNone/>
            </a:pPr>
            <a:r>
              <a:rPr lang="en-US" sz="1500" i="1" dirty="0">
                <a:solidFill>
                  <a:schemeClr val="accent4"/>
                </a:solidFill>
              </a:rPr>
              <a:t>A scanner result is a lead, not proof. Each item is validated before it is rated.</a:t>
            </a:r>
            <a:endParaRPr lang="en-US" sz="15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3200" b="1" dirty="0">
                <a:solidFill>
                  <a:schemeClr val="tx2"/>
                </a:solidFill>
              </a:rPr>
              <a:t>Nmap: no ports answered</a:t>
            </a:r>
            <a:endParaRPr lang="en-US" sz="3200" dirty="0"/>
          </a:p>
        </p:txBody>
      </p:sp>
      <p:sp>
        <p:nvSpPr>
          <p:cNvPr id="3" name="Stat ports card"/>
          <p:cNvSpPr/>
          <p:nvPr/>
        </p:nvSpPr>
        <p:spPr>
          <a:xfrm>
            <a:off x="457200" y="1005840"/>
            <a:ext cx="2651760" cy="914400"/>
          </a:xfrm>
          <a:prstGeom prst="roundRect">
            <a:avLst>
              <a:gd name="adj" fmla="val 8000"/>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4" name="Stat ports value"/>
          <p:cNvSpPr txBox="1"/>
          <p:nvPr/>
        </p:nvSpPr>
        <p:spPr>
          <a:xfrm>
            <a:off x="594360" y="1078992"/>
            <a:ext cx="2377440" cy="502920"/>
          </a:xfrm>
          <a:prstGeom prst="rect">
            <a:avLst/>
          </a:prstGeom>
          <a:noFill/>
          <a:ln/>
        </p:spPr>
        <p:txBody>
          <a:bodyPr wrap="square" lIns="0" tIns="0" rIns="0" bIns="0" rtlCol="0" anchor="ctr"/>
          <a:lstStyle/>
          <a:p>
            <a:pPr algn="l" indent="0" marL="0">
              <a:buNone/>
            </a:pPr>
            <a:r>
              <a:rPr lang="en-US" sz="3200" b="1" dirty="0">
                <a:solidFill>
                  <a:schemeClr val="accent3"/>
                </a:solidFill>
                <a:latin typeface="Cambria" pitchFamily="34" charset="0"/>
                <a:ea typeface="Cambria" pitchFamily="34" charset="-122"/>
                <a:cs typeface="Cambria" pitchFamily="34" charset="-120"/>
              </a:rPr>
              <a:t>1000</a:t>
            </a:r>
            <a:endParaRPr lang="en-US" sz="3200" dirty="0"/>
          </a:p>
        </p:txBody>
      </p:sp>
      <p:sp>
        <p:nvSpPr>
          <p:cNvPr id="5" name="Stat ports label"/>
          <p:cNvSpPr txBox="1"/>
          <p:nvPr/>
        </p:nvSpPr>
        <p:spPr>
          <a:xfrm>
            <a:off x="594360" y="1554480"/>
            <a:ext cx="2377440" cy="310896"/>
          </a:xfrm>
          <a:prstGeom prst="rect">
            <a:avLst/>
          </a:prstGeom>
          <a:noFill/>
          <a:ln/>
        </p:spPr>
        <p:txBody>
          <a:bodyPr wrap="square" lIns="0" tIns="0" rIns="0" bIns="0" rtlCol="0" anchor="t"/>
          <a:lstStyle/>
          <a:p>
            <a:pPr algn="l" indent="0" marL="0">
              <a:buNone/>
            </a:pPr>
            <a:r>
              <a:rPr lang="en-US" sz="1200" dirty="0">
                <a:solidFill>
                  <a:schemeClr val="tx1"/>
                </a:solidFill>
              </a:rPr>
              <a:t>TCP ports scanned, all filtered</a:t>
            </a:r>
            <a:endParaRPr lang="en-US" sz="1200" dirty="0"/>
          </a:p>
        </p:txBody>
      </p:sp>
      <p:sp>
        <p:nvSpPr>
          <p:cNvPr id="6" name="Stat open card"/>
          <p:cNvSpPr/>
          <p:nvPr/>
        </p:nvSpPr>
        <p:spPr>
          <a:xfrm>
            <a:off x="3246120" y="1005840"/>
            <a:ext cx="2651760" cy="914400"/>
          </a:xfrm>
          <a:prstGeom prst="roundRect">
            <a:avLst>
              <a:gd name="adj" fmla="val 8000"/>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7" name="Stat open value"/>
          <p:cNvSpPr txBox="1"/>
          <p:nvPr/>
        </p:nvSpPr>
        <p:spPr>
          <a:xfrm>
            <a:off x="3383280" y="1078992"/>
            <a:ext cx="2377440" cy="502920"/>
          </a:xfrm>
          <a:prstGeom prst="rect">
            <a:avLst/>
          </a:prstGeom>
          <a:noFill/>
          <a:ln/>
        </p:spPr>
        <p:txBody>
          <a:bodyPr wrap="square" lIns="0" tIns="0" rIns="0" bIns="0" rtlCol="0" anchor="ctr"/>
          <a:lstStyle/>
          <a:p>
            <a:pPr algn="l" indent="0" marL="0">
              <a:buNone/>
            </a:pPr>
            <a:r>
              <a:rPr lang="en-US" sz="3200" b="1" dirty="0">
                <a:solidFill>
                  <a:schemeClr val="accent4"/>
                </a:solidFill>
                <a:latin typeface="Cambria" pitchFamily="34" charset="0"/>
                <a:ea typeface="Cambria" pitchFamily="34" charset="-122"/>
                <a:cs typeface="Cambria" pitchFamily="34" charset="-120"/>
              </a:rPr>
              <a:t>0</a:t>
            </a:r>
            <a:endParaRPr lang="en-US" sz="3200" dirty="0"/>
          </a:p>
        </p:txBody>
      </p:sp>
      <p:sp>
        <p:nvSpPr>
          <p:cNvPr id="8" name="Stat open label"/>
          <p:cNvSpPr txBox="1"/>
          <p:nvPr/>
        </p:nvSpPr>
        <p:spPr>
          <a:xfrm>
            <a:off x="3383280" y="1554480"/>
            <a:ext cx="2377440" cy="310896"/>
          </a:xfrm>
          <a:prstGeom prst="rect">
            <a:avLst/>
          </a:prstGeom>
          <a:noFill/>
          <a:ln/>
        </p:spPr>
        <p:txBody>
          <a:bodyPr wrap="square" lIns="0" tIns="0" rIns="0" bIns="0" rtlCol="0" anchor="t"/>
          <a:lstStyle/>
          <a:p>
            <a:pPr algn="l" indent="0" marL="0">
              <a:buNone/>
            </a:pPr>
            <a:r>
              <a:rPr lang="en-US" sz="1200" dirty="0">
                <a:solidFill>
                  <a:schemeClr val="tx1"/>
                </a:solidFill>
              </a:rPr>
              <a:t>open ports, so no service versions</a:t>
            </a:r>
            <a:endParaRPr lang="en-US" sz="1200" dirty="0"/>
          </a:p>
        </p:txBody>
      </p:sp>
      <p:sp>
        <p:nvSpPr>
          <p:cNvPr id="9" name="Stat OS card"/>
          <p:cNvSpPr/>
          <p:nvPr/>
        </p:nvSpPr>
        <p:spPr>
          <a:xfrm>
            <a:off x="6035040" y="1005840"/>
            <a:ext cx="2651760" cy="914400"/>
          </a:xfrm>
          <a:prstGeom prst="roundRect">
            <a:avLst>
              <a:gd name="adj" fmla="val 8000"/>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10" name="Stat OS value"/>
          <p:cNvSpPr txBox="1"/>
          <p:nvPr/>
        </p:nvSpPr>
        <p:spPr>
          <a:xfrm>
            <a:off x="6172200" y="1078992"/>
            <a:ext cx="2377440" cy="502920"/>
          </a:xfrm>
          <a:prstGeom prst="rect">
            <a:avLst/>
          </a:prstGeom>
          <a:noFill/>
          <a:ln/>
        </p:spPr>
        <p:txBody>
          <a:bodyPr wrap="square" lIns="0" tIns="0" rIns="0" bIns="0" rtlCol="0" anchor="ctr"/>
          <a:lstStyle/>
          <a:p>
            <a:pPr algn="l" indent="0" marL="0">
              <a:buNone/>
            </a:pPr>
            <a:r>
              <a:rPr lang="en-US" sz="3200" b="1" dirty="0">
                <a:solidFill>
                  <a:schemeClr val="accent2"/>
                </a:solidFill>
                <a:latin typeface="Cambria" pitchFamily="34" charset="0"/>
                <a:ea typeface="Cambria" pitchFamily="34" charset="-122"/>
                <a:cs typeface="Cambria" pitchFamily="34" charset="-120"/>
              </a:rPr>
              <a:t>OS?</a:t>
            </a:r>
            <a:endParaRPr lang="en-US" sz="3200" dirty="0"/>
          </a:p>
        </p:txBody>
      </p:sp>
      <p:sp>
        <p:nvSpPr>
          <p:cNvPr id="11" name="Stat OS label"/>
          <p:cNvSpPr txBox="1"/>
          <p:nvPr/>
        </p:nvSpPr>
        <p:spPr>
          <a:xfrm>
            <a:off x="6172200" y="1554480"/>
            <a:ext cx="2377440" cy="310896"/>
          </a:xfrm>
          <a:prstGeom prst="rect">
            <a:avLst/>
          </a:prstGeom>
          <a:noFill/>
          <a:ln/>
        </p:spPr>
        <p:txBody>
          <a:bodyPr wrap="square" lIns="0" tIns="0" rIns="0" bIns="0" rtlCol="0" anchor="t"/>
          <a:lstStyle/>
          <a:p>
            <a:pPr algn="l" indent="0" marL="0">
              <a:buNone/>
            </a:pPr>
            <a:r>
              <a:rPr lang="en-US" sz="1200" dirty="0">
                <a:solidFill>
                  <a:schemeClr val="tx1"/>
                </a:solidFill>
              </a:rPr>
              <a:t>guesses unreliable (no open port)</a:t>
            </a:r>
            <a:endParaRPr lang="en-US" sz="1200" dirty="0"/>
          </a:p>
        </p:txBody>
      </p:sp>
      <p:sp>
        <p:nvSpPr>
          <p:cNvPr id="12" name="Nmap -A output screenshot frame"/>
          <p:cNvSpPr/>
          <p:nvPr/>
        </p:nvSpPr>
        <p:spPr>
          <a:xfrm>
            <a:off x="420624" y="2066544"/>
            <a:ext cx="8302752" cy="2471705"/>
          </a:xfrm>
          <a:prstGeom prst="rect">
            <a:avLst/>
          </a:prstGeom>
          <a:solidFill>
            <a:schemeClr val="bg1"/>
          </a:solidFill>
          <a:ln w="9525">
            <a:solidFill>
              <a:srgbClr val="C9D4DE"/>
            </a:solidFill>
            <a:prstDash val="solid"/>
          </a:ln>
          <a:effectLst>
            <a:outerShdw sx="100000" sy="100000" kx="0" ky="0" algn="bl" rotWithShape="0" blurRad="76200" dist="25400" dir="5400000">
              <a:srgbClr val="000000">
                <a:alpha val="12000"/>
              </a:srgbClr>
            </a:outerShdw>
          </a:effectLst>
        </p:spPr>
      </p:sp>
      <p:pic>
        <p:nvPicPr>
          <p:cNvPr id="13" name="Image 0" descr="Nmap -A output screenshot">    </p:cNvPr>
          <p:cNvPicPr>
            <a:picLocks noChangeAspect="1"/>
          </p:cNvPicPr>
          <p:nvPr/>
        </p:nvPicPr>
        <p:blipFill>
          <a:blip r:embed="rId1"/>
          <a:stretch>
            <a:fillRect/>
          </a:stretch>
        </p:blipFill>
        <p:spPr>
          <a:xfrm>
            <a:off x="457200" y="2103120"/>
            <a:ext cx="8229600" cy="2398553"/>
          </a:xfrm>
          <a:prstGeom prst="rect">
            <a:avLst/>
          </a:prstGeom>
        </p:spPr>
      </p:pic>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3200" b="1" dirty="0">
                <a:solidFill>
                  <a:schemeClr val="tx2"/>
                </a:solidFill>
              </a:rPr>
              <a:t>Local test lab: DVWA</a:t>
            </a:r>
            <a:endParaRPr lang="en-US" sz="3200" dirty="0"/>
          </a:p>
        </p:txBody>
      </p:sp>
      <p:sp>
        <p:nvSpPr>
          <p:cNvPr id="3" name="Lab card 1"/>
          <p:cNvSpPr/>
          <p:nvPr/>
        </p:nvSpPr>
        <p:spPr>
          <a:xfrm>
            <a:off x="457200" y="1097280"/>
            <a:ext cx="3291840" cy="960120"/>
          </a:xfrm>
          <a:prstGeom prst="roundRect">
            <a:avLst>
              <a:gd name="adj" fmla="val 7619"/>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4" name="Lab icon 1 circle"/>
          <p:cNvSpPr/>
          <p:nvPr/>
        </p:nvSpPr>
        <p:spPr>
          <a:xfrm>
            <a:off x="621792" y="1280160"/>
            <a:ext cx="594360" cy="594360"/>
          </a:xfrm>
          <a:prstGeom prst="ellipse">
            <a:avLst/>
          </a:prstGeom>
          <a:solidFill>
            <a:srgbClr val="00A896"/>
          </a:solidFill>
          <a:ln w="12700">
            <a:solidFill>
              <a:srgbClr val="00A896"/>
            </a:solidFill>
            <a:prstDash val="solid"/>
          </a:ln>
        </p:spPr>
      </p:sp>
      <p:pic>
        <p:nvPicPr>
          <p:cNvPr id="5" name="Image 0" descr="Lab icon 1">    </p:cNvPr>
          <p:cNvPicPr>
            <a:picLocks noChangeAspect="1"/>
          </p:cNvPicPr>
          <p:nvPr/>
        </p:nvPicPr>
        <p:blipFill>
          <a:blip r:embed="rId1"/>
          <a:stretch>
            <a:fillRect/>
          </a:stretch>
        </p:blipFill>
        <p:spPr>
          <a:xfrm>
            <a:off x="770382" y="1428750"/>
            <a:ext cx="297180" cy="297180"/>
          </a:xfrm>
          <a:prstGeom prst="rect">
            <a:avLst/>
          </a:prstGeom>
        </p:spPr>
      </p:pic>
      <p:sp>
        <p:nvSpPr>
          <p:cNvPr id="6" name="Lab heading 1"/>
          <p:cNvSpPr txBox="1"/>
          <p:nvPr/>
        </p:nvSpPr>
        <p:spPr>
          <a:xfrm>
            <a:off x="1371600" y="1280160"/>
            <a:ext cx="2286000" cy="292608"/>
          </a:xfrm>
          <a:prstGeom prst="rect">
            <a:avLst/>
          </a:prstGeom>
          <a:noFill/>
          <a:ln/>
        </p:spPr>
        <p:txBody>
          <a:bodyPr wrap="square" lIns="0" tIns="0" rIns="0" bIns="0" rtlCol="0" anchor="ctr"/>
          <a:lstStyle/>
          <a:p>
            <a:pPr indent="0" marL="0">
              <a:buNone/>
            </a:pPr>
            <a:r>
              <a:rPr lang="en-US" sz="1600" b="1" dirty="0">
                <a:solidFill>
                  <a:schemeClr val="tx2"/>
                </a:solidFill>
              </a:rPr>
              <a:t>Apache 2.4.68</a:t>
            </a:r>
            <a:endParaRPr lang="en-US" sz="1600" dirty="0"/>
          </a:p>
        </p:txBody>
      </p:sp>
      <p:sp>
        <p:nvSpPr>
          <p:cNvPr id="7" name="Lab detail 1"/>
          <p:cNvSpPr txBox="1"/>
          <p:nvPr/>
        </p:nvSpPr>
        <p:spPr>
          <a:xfrm>
            <a:off x="1371600" y="1600200"/>
            <a:ext cx="2286000" cy="274320"/>
          </a:xfrm>
          <a:prstGeom prst="rect">
            <a:avLst/>
          </a:prstGeom>
          <a:noFill/>
          <a:ln/>
        </p:spPr>
        <p:txBody>
          <a:bodyPr wrap="square" lIns="0" tIns="0" rIns="0" bIns="0" rtlCol="0" anchor="ctr"/>
          <a:lstStyle/>
          <a:p>
            <a:pPr indent="0" marL="0">
              <a:buNone/>
            </a:pPr>
            <a:r>
              <a:rPr lang="en-US" sz="1200" dirty="0">
                <a:solidFill>
                  <a:schemeClr val="tx1"/>
                </a:solidFill>
              </a:rPr>
              <a:t>Service active (running)</a:t>
            </a:r>
            <a:endParaRPr lang="en-US" sz="1200" dirty="0"/>
          </a:p>
        </p:txBody>
      </p:sp>
      <p:sp>
        <p:nvSpPr>
          <p:cNvPr id="8" name="Lab card 2"/>
          <p:cNvSpPr/>
          <p:nvPr/>
        </p:nvSpPr>
        <p:spPr>
          <a:xfrm>
            <a:off x="457200" y="2194560"/>
            <a:ext cx="3291840" cy="960120"/>
          </a:xfrm>
          <a:prstGeom prst="roundRect">
            <a:avLst>
              <a:gd name="adj" fmla="val 7619"/>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9" name="Lab icon 2 circle"/>
          <p:cNvSpPr/>
          <p:nvPr/>
        </p:nvSpPr>
        <p:spPr>
          <a:xfrm>
            <a:off x="621792" y="2377440"/>
            <a:ext cx="594360" cy="594360"/>
          </a:xfrm>
          <a:prstGeom prst="ellipse">
            <a:avLst/>
          </a:prstGeom>
          <a:solidFill>
            <a:srgbClr val="3A7CA5"/>
          </a:solidFill>
          <a:ln w="12700">
            <a:solidFill>
              <a:srgbClr val="3A7CA5"/>
            </a:solidFill>
            <a:prstDash val="solid"/>
          </a:ln>
        </p:spPr>
      </p:sp>
      <p:pic>
        <p:nvPicPr>
          <p:cNvPr id="10" name="Image 1" descr="Lab icon 2">    </p:cNvPr>
          <p:cNvPicPr>
            <a:picLocks noChangeAspect="1"/>
          </p:cNvPicPr>
          <p:nvPr/>
        </p:nvPicPr>
        <p:blipFill>
          <a:blip r:embed="rId2"/>
          <a:stretch>
            <a:fillRect/>
          </a:stretch>
        </p:blipFill>
        <p:spPr>
          <a:xfrm>
            <a:off x="770382" y="2526030"/>
            <a:ext cx="297180" cy="297180"/>
          </a:xfrm>
          <a:prstGeom prst="rect">
            <a:avLst/>
          </a:prstGeom>
        </p:spPr>
      </p:pic>
      <p:sp>
        <p:nvSpPr>
          <p:cNvPr id="11" name="Lab heading 2"/>
          <p:cNvSpPr txBox="1"/>
          <p:nvPr/>
        </p:nvSpPr>
        <p:spPr>
          <a:xfrm>
            <a:off x="1371600" y="2377440"/>
            <a:ext cx="2286000" cy="292608"/>
          </a:xfrm>
          <a:prstGeom prst="rect">
            <a:avLst/>
          </a:prstGeom>
          <a:noFill/>
          <a:ln/>
        </p:spPr>
        <p:txBody>
          <a:bodyPr wrap="square" lIns="0" tIns="0" rIns="0" bIns="0" rtlCol="0" anchor="ctr"/>
          <a:lstStyle/>
          <a:p>
            <a:pPr indent="0" marL="0">
              <a:buNone/>
            </a:pPr>
            <a:r>
              <a:rPr lang="en-US" sz="1600" b="1" dirty="0">
                <a:solidFill>
                  <a:schemeClr val="tx2"/>
                </a:solidFill>
              </a:rPr>
              <a:t>MariaDB 11.8.8</a:t>
            </a:r>
            <a:endParaRPr lang="en-US" sz="1600" dirty="0"/>
          </a:p>
        </p:txBody>
      </p:sp>
      <p:sp>
        <p:nvSpPr>
          <p:cNvPr id="12" name="Lab detail 2"/>
          <p:cNvSpPr txBox="1"/>
          <p:nvPr/>
        </p:nvSpPr>
        <p:spPr>
          <a:xfrm>
            <a:off x="1371600" y="2697480"/>
            <a:ext cx="2286000" cy="274320"/>
          </a:xfrm>
          <a:prstGeom prst="rect">
            <a:avLst/>
          </a:prstGeom>
          <a:noFill/>
          <a:ln/>
        </p:spPr>
        <p:txBody>
          <a:bodyPr wrap="square" lIns="0" tIns="0" rIns="0" bIns="0" rtlCol="0" anchor="ctr"/>
          <a:lstStyle/>
          <a:p>
            <a:pPr indent="0" marL="0">
              <a:buNone/>
            </a:pPr>
            <a:r>
              <a:rPr lang="en-US" sz="1200" dirty="0">
                <a:solidFill>
                  <a:schemeClr val="tx1"/>
                </a:solidFill>
              </a:rPr>
              <a:t>Listens on 127.0.0.1:3306 only</a:t>
            </a:r>
            <a:endParaRPr lang="en-US" sz="1200" dirty="0"/>
          </a:p>
        </p:txBody>
      </p:sp>
      <p:sp>
        <p:nvSpPr>
          <p:cNvPr id="13" name="Lab card 3"/>
          <p:cNvSpPr/>
          <p:nvPr/>
        </p:nvSpPr>
        <p:spPr>
          <a:xfrm>
            <a:off x="457200" y="3291840"/>
            <a:ext cx="3291840" cy="960120"/>
          </a:xfrm>
          <a:prstGeom prst="roundRect">
            <a:avLst>
              <a:gd name="adj" fmla="val 7619"/>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14" name="Lab icon 3 circle"/>
          <p:cNvSpPr/>
          <p:nvPr/>
        </p:nvSpPr>
        <p:spPr>
          <a:xfrm>
            <a:off x="621792" y="3474720"/>
            <a:ext cx="594360" cy="594360"/>
          </a:xfrm>
          <a:prstGeom prst="ellipse">
            <a:avLst/>
          </a:prstGeom>
          <a:solidFill>
            <a:srgbClr val="00A896"/>
          </a:solidFill>
          <a:ln w="12700">
            <a:solidFill>
              <a:srgbClr val="00A896"/>
            </a:solidFill>
            <a:prstDash val="solid"/>
          </a:ln>
        </p:spPr>
      </p:sp>
      <p:pic>
        <p:nvPicPr>
          <p:cNvPr id="15" name="Image 2" descr="Lab icon 3">    </p:cNvPr>
          <p:cNvPicPr>
            <a:picLocks noChangeAspect="1"/>
          </p:cNvPicPr>
          <p:nvPr/>
        </p:nvPicPr>
        <p:blipFill>
          <a:blip r:embed="rId3"/>
          <a:stretch>
            <a:fillRect/>
          </a:stretch>
        </p:blipFill>
        <p:spPr>
          <a:xfrm>
            <a:off x="770382" y="3623310"/>
            <a:ext cx="297180" cy="297180"/>
          </a:xfrm>
          <a:prstGeom prst="rect">
            <a:avLst/>
          </a:prstGeom>
        </p:spPr>
      </p:pic>
      <p:sp>
        <p:nvSpPr>
          <p:cNvPr id="16" name="Lab heading 3"/>
          <p:cNvSpPr txBox="1"/>
          <p:nvPr/>
        </p:nvSpPr>
        <p:spPr>
          <a:xfrm>
            <a:off x="1371600" y="3474720"/>
            <a:ext cx="2286000" cy="292608"/>
          </a:xfrm>
          <a:prstGeom prst="rect">
            <a:avLst/>
          </a:prstGeom>
          <a:noFill/>
          <a:ln/>
        </p:spPr>
        <p:txBody>
          <a:bodyPr wrap="square" lIns="0" tIns="0" rIns="0" bIns="0" rtlCol="0" anchor="ctr"/>
          <a:lstStyle/>
          <a:p>
            <a:pPr indent="0" marL="0">
              <a:buNone/>
            </a:pPr>
            <a:r>
              <a:rPr lang="en-US" sz="1600" b="1" dirty="0">
                <a:solidFill>
                  <a:schemeClr val="tx2"/>
                </a:solidFill>
              </a:rPr>
              <a:t>DVWA + Burp proxy</a:t>
            </a:r>
            <a:endParaRPr lang="en-US" sz="1600" dirty="0"/>
          </a:p>
        </p:txBody>
      </p:sp>
      <p:sp>
        <p:nvSpPr>
          <p:cNvPr id="17" name="Lab detail 3"/>
          <p:cNvSpPr txBox="1"/>
          <p:nvPr/>
        </p:nvSpPr>
        <p:spPr>
          <a:xfrm>
            <a:off x="1371600" y="3794760"/>
            <a:ext cx="2286000" cy="274320"/>
          </a:xfrm>
          <a:prstGeom prst="rect">
            <a:avLst/>
          </a:prstGeom>
          <a:noFill/>
          <a:ln/>
        </p:spPr>
        <p:txBody>
          <a:bodyPr wrap="square" lIns="0" tIns="0" rIns="0" bIns="0" rtlCol="0" anchor="ctr"/>
          <a:lstStyle/>
          <a:p>
            <a:pPr indent="0" marL="0">
              <a:buNone/>
            </a:pPr>
            <a:r>
              <a:rPr lang="en-US" sz="1200" dirty="0">
                <a:solidFill>
                  <a:schemeClr val="tx1"/>
                </a:solidFill>
              </a:rPr>
              <a:t>Browser via 127.0.0.1:8080</a:t>
            </a:r>
            <a:endParaRPr lang="en-US" sz="1200" dirty="0"/>
          </a:p>
        </p:txBody>
      </p:sp>
      <p:sp>
        <p:nvSpPr>
          <p:cNvPr id="18" name="Apache status and curl screenshot frame"/>
          <p:cNvSpPr/>
          <p:nvPr/>
        </p:nvSpPr>
        <p:spPr>
          <a:xfrm>
            <a:off x="3986784" y="1060704"/>
            <a:ext cx="4736592" cy="2078645"/>
          </a:xfrm>
          <a:prstGeom prst="rect">
            <a:avLst/>
          </a:prstGeom>
          <a:solidFill>
            <a:schemeClr val="bg1"/>
          </a:solidFill>
          <a:ln w="9525">
            <a:solidFill>
              <a:srgbClr val="C9D4DE"/>
            </a:solidFill>
            <a:prstDash val="solid"/>
          </a:ln>
          <a:effectLst>
            <a:outerShdw sx="100000" sy="100000" kx="0" ky="0" algn="bl" rotWithShape="0" blurRad="76200" dist="25400" dir="5400000">
              <a:srgbClr val="000000">
                <a:alpha val="12000"/>
              </a:srgbClr>
            </a:outerShdw>
          </a:effectLst>
        </p:spPr>
      </p:sp>
      <p:pic>
        <p:nvPicPr>
          <p:cNvPr id="19" name="Image 3" descr="Apache status and curl screenshot">    </p:cNvPr>
          <p:cNvPicPr>
            <a:picLocks noChangeAspect="1"/>
          </p:cNvPicPr>
          <p:nvPr/>
        </p:nvPicPr>
        <p:blipFill>
          <a:blip r:embed="rId4"/>
          <a:stretch>
            <a:fillRect/>
          </a:stretch>
        </p:blipFill>
        <p:spPr>
          <a:xfrm>
            <a:off x="4023360" y="1097280"/>
            <a:ext cx="4663440" cy="2005493"/>
          </a:xfrm>
          <a:prstGeom prst="rect">
            <a:avLst/>
          </a:prstGeom>
        </p:spPr>
      </p:pic>
      <p:sp>
        <p:nvSpPr>
          <p:cNvPr id="20" name="Apache caption"/>
          <p:cNvSpPr txBox="1"/>
          <p:nvPr/>
        </p:nvSpPr>
        <p:spPr>
          <a:xfrm>
            <a:off x="4023360" y="3285653"/>
            <a:ext cx="4663440" cy="502920"/>
          </a:xfrm>
          <a:prstGeom prst="rect">
            <a:avLst/>
          </a:prstGeom>
          <a:noFill/>
          <a:ln/>
        </p:spPr>
        <p:txBody>
          <a:bodyPr wrap="square" lIns="0" tIns="0" rIns="0" bIns="0" rtlCol="0" anchor="t"/>
          <a:lstStyle/>
          <a:p>
            <a:pPr indent="0" marL="0">
              <a:buNone/>
            </a:pPr>
            <a:r>
              <a:rPr lang="en-US" sz="1300" i="1" dirty="0">
                <a:solidFill>
                  <a:schemeClr val="accent5"/>
                </a:solidFill>
              </a:rPr>
              <a:t>curl -I shows the Server header: Apache/2.4.68 (Debian), no security headers.</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3200" b="1" dirty="0">
                <a:solidFill>
                  <a:schemeClr val="tx2"/>
                </a:solidFill>
              </a:rPr>
              <a:t>Nikto: 20 items reported</a:t>
            </a:r>
            <a:endParaRPr lang="en-US" sz="3200" dirty="0"/>
          </a:p>
        </p:txBody>
      </p:sp>
      <p:sp>
        <p:nvSpPr>
          <p:cNvPr id="3" name="Stat requests card"/>
          <p:cNvSpPr/>
          <p:nvPr/>
        </p:nvSpPr>
        <p:spPr>
          <a:xfrm>
            <a:off x="457200" y="1051560"/>
            <a:ext cx="2194560" cy="914400"/>
          </a:xfrm>
          <a:prstGeom prst="roundRect">
            <a:avLst>
              <a:gd name="adj" fmla="val 8000"/>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4" name="Stat requests value"/>
          <p:cNvSpPr txBox="1"/>
          <p:nvPr/>
        </p:nvSpPr>
        <p:spPr>
          <a:xfrm>
            <a:off x="594360" y="1124712"/>
            <a:ext cx="1920240" cy="502920"/>
          </a:xfrm>
          <a:prstGeom prst="rect">
            <a:avLst/>
          </a:prstGeom>
          <a:noFill/>
          <a:ln/>
        </p:spPr>
        <p:txBody>
          <a:bodyPr wrap="square" lIns="0" tIns="0" rIns="0" bIns="0" rtlCol="0" anchor="ctr"/>
          <a:lstStyle/>
          <a:p>
            <a:pPr algn="l" indent="0" marL="0">
              <a:buNone/>
            </a:pPr>
            <a:r>
              <a:rPr lang="en-US" sz="3200" b="1" dirty="0">
                <a:solidFill>
                  <a:schemeClr val="accent4"/>
                </a:solidFill>
                <a:latin typeface="Cambria" pitchFamily="34" charset="0"/>
                <a:ea typeface="Cambria" pitchFamily="34" charset="-122"/>
                <a:cs typeface="Cambria" pitchFamily="34" charset="-120"/>
              </a:rPr>
              <a:t>8,040</a:t>
            </a:r>
            <a:endParaRPr lang="en-US" sz="3200" dirty="0"/>
          </a:p>
        </p:txBody>
      </p:sp>
      <p:sp>
        <p:nvSpPr>
          <p:cNvPr id="5" name="Stat requests label"/>
          <p:cNvSpPr txBox="1"/>
          <p:nvPr/>
        </p:nvSpPr>
        <p:spPr>
          <a:xfrm>
            <a:off x="594360" y="1600200"/>
            <a:ext cx="1920240" cy="310896"/>
          </a:xfrm>
          <a:prstGeom prst="rect">
            <a:avLst/>
          </a:prstGeom>
          <a:noFill/>
          <a:ln/>
        </p:spPr>
        <p:txBody>
          <a:bodyPr wrap="square" lIns="0" tIns="0" rIns="0" bIns="0" rtlCol="0" anchor="t"/>
          <a:lstStyle/>
          <a:p>
            <a:pPr algn="l" indent="0" marL="0">
              <a:buNone/>
            </a:pPr>
            <a:r>
              <a:rPr lang="en-US" sz="1200" dirty="0">
                <a:solidFill>
                  <a:schemeClr val="tx1"/>
                </a:solidFill>
              </a:rPr>
              <a:t>requests sent</a:t>
            </a:r>
            <a:endParaRPr lang="en-US" sz="1200" dirty="0"/>
          </a:p>
        </p:txBody>
      </p:sp>
      <p:sp>
        <p:nvSpPr>
          <p:cNvPr id="6" name="Stat items card"/>
          <p:cNvSpPr/>
          <p:nvPr/>
        </p:nvSpPr>
        <p:spPr>
          <a:xfrm>
            <a:off x="457200" y="2103120"/>
            <a:ext cx="2194560" cy="914400"/>
          </a:xfrm>
          <a:prstGeom prst="roundRect">
            <a:avLst>
              <a:gd name="adj" fmla="val 8000"/>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7" name="Stat items value"/>
          <p:cNvSpPr txBox="1"/>
          <p:nvPr/>
        </p:nvSpPr>
        <p:spPr>
          <a:xfrm>
            <a:off x="594360" y="2176272"/>
            <a:ext cx="1920240" cy="502920"/>
          </a:xfrm>
          <a:prstGeom prst="rect">
            <a:avLst/>
          </a:prstGeom>
          <a:noFill/>
          <a:ln/>
        </p:spPr>
        <p:txBody>
          <a:bodyPr wrap="square" lIns="0" tIns="0" rIns="0" bIns="0" rtlCol="0" anchor="ctr"/>
          <a:lstStyle/>
          <a:p>
            <a:pPr algn="l" indent="0" marL="0">
              <a:buNone/>
            </a:pPr>
            <a:r>
              <a:rPr lang="en-US" sz="3200" b="1" dirty="0">
                <a:solidFill>
                  <a:schemeClr val="accent3"/>
                </a:solidFill>
                <a:latin typeface="Cambria" pitchFamily="34" charset="0"/>
                <a:ea typeface="Cambria" pitchFamily="34" charset="-122"/>
                <a:cs typeface="Cambria" pitchFamily="34" charset="-120"/>
              </a:rPr>
              <a:t>20</a:t>
            </a:r>
            <a:endParaRPr lang="en-US" sz="3200" dirty="0"/>
          </a:p>
        </p:txBody>
      </p:sp>
      <p:sp>
        <p:nvSpPr>
          <p:cNvPr id="8" name="Stat items label"/>
          <p:cNvSpPr txBox="1"/>
          <p:nvPr/>
        </p:nvSpPr>
        <p:spPr>
          <a:xfrm>
            <a:off x="594360" y="2651760"/>
            <a:ext cx="1920240" cy="310896"/>
          </a:xfrm>
          <a:prstGeom prst="rect">
            <a:avLst/>
          </a:prstGeom>
          <a:noFill/>
          <a:ln/>
        </p:spPr>
        <p:txBody>
          <a:bodyPr wrap="square" lIns="0" tIns="0" rIns="0" bIns="0" rtlCol="0" anchor="t"/>
          <a:lstStyle/>
          <a:p>
            <a:pPr algn="l" indent="0" marL="0">
              <a:buNone/>
            </a:pPr>
            <a:r>
              <a:rPr lang="en-US" sz="1200" dirty="0">
                <a:solidFill>
                  <a:schemeClr val="tx1"/>
                </a:solidFill>
              </a:rPr>
              <a:t>items reported</a:t>
            </a:r>
            <a:endParaRPr lang="en-US" sz="1200" dirty="0"/>
          </a:p>
        </p:txBody>
      </p:sp>
      <p:sp>
        <p:nvSpPr>
          <p:cNvPr id="9" name="Stat runs card"/>
          <p:cNvSpPr/>
          <p:nvPr/>
        </p:nvSpPr>
        <p:spPr>
          <a:xfrm>
            <a:off x="457200" y="3154680"/>
            <a:ext cx="2194560" cy="914400"/>
          </a:xfrm>
          <a:prstGeom prst="roundRect">
            <a:avLst>
              <a:gd name="adj" fmla="val 8000"/>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10" name="Stat runs value"/>
          <p:cNvSpPr txBox="1"/>
          <p:nvPr/>
        </p:nvSpPr>
        <p:spPr>
          <a:xfrm>
            <a:off x="594360" y="3227832"/>
            <a:ext cx="1920240" cy="502920"/>
          </a:xfrm>
          <a:prstGeom prst="rect">
            <a:avLst/>
          </a:prstGeom>
          <a:noFill/>
          <a:ln/>
        </p:spPr>
        <p:txBody>
          <a:bodyPr wrap="square" lIns="0" tIns="0" rIns="0" bIns="0" rtlCol="0" anchor="ctr"/>
          <a:lstStyle/>
          <a:p>
            <a:pPr algn="l" indent="0" marL="0">
              <a:buNone/>
            </a:pPr>
            <a:r>
              <a:rPr lang="en-US" sz="3200" b="1" dirty="0">
                <a:solidFill>
                  <a:schemeClr val="accent1"/>
                </a:solidFill>
                <a:latin typeface="Cambria" pitchFamily="34" charset="0"/>
                <a:ea typeface="Cambria" pitchFamily="34" charset="-122"/>
                <a:cs typeface="Cambria" pitchFamily="34" charset="-120"/>
              </a:rPr>
              <a:t>2</a:t>
            </a:r>
            <a:endParaRPr lang="en-US" sz="3200" dirty="0"/>
          </a:p>
        </p:txBody>
      </p:sp>
      <p:sp>
        <p:nvSpPr>
          <p:cNvPr id="11" name="Stat runs label"/>
          <p:cNvSpPr txBox="1"/>
          <p:nvPr/>
        </p:nvSpPr>
        <p:spPr>
          <a:xfrm>
            <a:off x="594360" y="3703320"/>
            <a:ext cx="1920240" cy="310896"/>
          </a:xfrm>
          <a:prstGeom prst="rect">
            <a:avLst/>
          </a:prstGeom>
          <a:noFill/>
          <a:ln/>
        </p:spPr>
        <p:txBody>
          <a:bodyPr wrap="square" lIns="0" tIns="0" rIns="0" bIns="0" rtlCol="0" anchor="t"/>
          <a:lstStyle/>
          <a:p>
            <a:pPr algn="l" indent="0" marL="0">
              <a:buNone/>
            </a:pPr>
            <a:r>
              <a:rPr lang="en-US" sz="1200" dirty="0">
                <a:solidFill>
                  <a:schemeClr val="tx1"/>
                </a:solidFill>
              </a:rPr>
              <a:t>identical runs (354 s, 351 s)</a:t>
            </a:r>
            <a:endParaRPr lang="en-US" sz="1200" dirty="0"/>
          </a:p>
        </p:txBody>
      </p:sp>
      <p:sp>
        <p:nvSpPr>
          <p:cNvPr id="12" name="Nikto output screenshot frame"/>
          <p:cNvSpPr/>
          <p:nvPr/>
        </p:nvSpPr>
        <p:spPr>
          <a:xfrm>
            <a:off x="2889504" y="1014984"/>
            <a:ext cx="5833872" cy="1899619"/>
          </a:xfrm>
          <a:prstGeom prst="rect">
            <a:avLst/>
          </a:prstGeom>
          <a:solidFill>
            <a:schemeClr val="bg1"/>
          </a:solidFill>
          <a:ln w="9525">
            <a:solidFill>
              <a:srgbClr val="C9D4DE"/>
            </a:solidFill>
            <a:prstDash val="solid"/>
          </a:ln>
          <a:effectLst>
            <a:outerShdw sx="100000" sy="100000" kx="0" ky="0" algn="bl" rotWithShape="0" blurRad="76200" dist="25400" dir="5400000">
              <a:srgbClr val="000000">
                <a:alpha val="12000"/>
              </a:srgbClr>
            </a:outerShdw>
          </a:effectLst>
        </p:spPr>
      </p:sp>
      <p:pic>
        <p:nvPicPr>
          <p:cNvPr id="13" name="Image 0" descr="Nikto output screenshot">    </p:cNvPr>
          <p:cNvPicPr>
            <a:picLocks noChangeAspect="1"/>
          </p:cNvPicPr>
          <p:nvPr/>
        </p:nvPicPr>
        <p:blipFill>
          <a:blip r:embed="rId1"/>
          <a:stretch>
            <a:fillRect/>
          </a:stretch>
        </p:blipFill>
        <p:spPr>
          <a:xfrm>
            <a:off x="2926080" y="1051560"/>
            <a:ext cx="5760720" cy="1826467"/>
          </a:xfrm>
          <a:prstGeom prst="rect">
            <a:avLst/>
          </a:prstGeom>
        </p:spPr>
      </p:pic>
      <p:sp>
        <p:nvSpPr>
          <p:cNvPr id="14" name="Nikto note card"/>
          <p:cNvSpPr/>
          <p:nvPr/>
        </p:nvSpPr>
        <p:spPr>
          <a:xfrm>
            <a:off x="2926080" y="3152347"/>
            <a:ext cx="5760720" cy="916733"/>
          </a:xfrm>
          <a:prstGeom prst="roundRect">
            <a:avLst>
              <a:gd name="adj" fmla="val 7980"/>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15" name="Nikto note text"/>
          <p:cNvSpPr txBox="1"/>
          <p:nvPr/>
        </p:nvSpPr>
        <p:spPr>
          <a:xfrm>
            <a:off x="3108960" y="3225499"/>
            <a:ext cx="5394960" cy="770429"/>
          </a:xfrm>
          <a:prstGeom prst="rect">
            <a:avLst/>
          </a:prstGeom>
          <a:noFill/>
          <a:ln/>
        </p:spPr>
        <p:txBody>
          <a:bodyPr wrap="square" lIns="0" tIns="0" rIns="0" bIns="0" rtlCol="0" anchor="ctr"/>
          <a:lstStyle/>
          <a:p>
            <a:pPr indent="0" marL="0">
              <a:buNone/>
            </a:pPr>
            <a:r>
              <a:rPr lang="en-US" sz="1300" dirty="0">
                <a:solidFill>
                  <a:schemeClr val="tx1"/>
                </a:solidFill>
              </a:rPr>
              <a:t>Nikto output is scanner evidence, not proof of exploitation. Each item needs validation, and Apache 2.4.68 was not in Nikto's database.</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3200" b="1" dirty="0">
                <a:solidFill>
                  <a:schemeClr val="tx2"/>
                </a:solidFill>
              </a:rPr>
              <a:t>What Nikto found</a:t>
            </a:r>
            <a:endParaRPr lang="en-US" sz="3200" dirty="0"/>
          </a:p>
        </p:txBody>
      </p:sp>
      <p:sp>
        <p:nvSpPr>
          <p:cNvPr id="3" name="Result card 1"/>
          <p:cNvSpPr/>
          <p:nvPr/>
        </p:nvSpPr>
        <p:spPr>
          <a:xfrm>
            <a:off x="457200" y="1097280"/>
            <a:ext cx="4023360" cy="1600200"/>
          </a:xfrm>
          <a:prstGeom prst="roundRect">
            <a:avLst>
              <a:gd name="adj" fmla="val 4571"/>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4" name="Result icon 1 circle"/>
          <p:cNvSpPr/>
          <p:nvPr/>
        </p:nvSpPr>
        <p:spPr>
          <a:xfrm>
            <a:off x="640080" y="1280160"/>
            <a:ext cx="548640" cy="548640"/>
          </a:xfrm>
          <a:prstGeom prst="ellipse">
            <a:avLst/>
          </a:prstGeom>
          <a:solidFill>
            <a:srgbClr val="F2A33A"/>
          </a:solidFill>
          <a:ln w="12700">
            <a:solidFill>
              <a:srgbClr val="F2A33A"/>
            </a:solidFill>
            <a:prstDash val="solid"/>
          </a:ln>
        </p:spPr>
      </p:sp>
      <p:pic>
        <p:nvPicPr>
          <p:cNvPr id="5" name="Image 0" descr="Result icon 1">    </p:cNvPr>
          <p:cNvPicPr>
            <a:picLocks noChangeAspect="1"/>
          </p:cNvPicPr>
          <p:nvPr/>
        </p:nvPicPr>
        <p:blipFill>
          <a:blip r:embed="rId1"/>
          <a:stretch>
            <a:fillRect/>
          </a:stretch>
        </p:blipFill>
        <p:spPr>
          <a:xfrm>
            <a:off x="777240" y="1417320"/>
            <a:ext cx="274320" cy="274320"/>
          </a:xfrm>
          <a:prstGeom prst="rect">
            <a:avLst/>
          </a:prstGeom>
        </p:spPr>
      </p:pic>
      <p:sp>
        <p:nvSpPr>
          <p:cNvPr id="6" name="Result heading 1"/>
          <p:cNvSpPr txBox="1"/>
          <p:nvPr/>
        </p:nvSpPr>
        <p:spPr>
          <a:xfrm>
            <a:off x="1371600" y="1280160"/>
            <a:ext cx="2926080" cy="548640"/>
          </a:xfrm>
          <a:prstGeom prst="rect">
            <a:avLst/>
          </a:prstGeom>
          <a:noFill/>
          <a:ln/>
        </p:spPr>
        <p:txBody>
          <a:bodyPr wrap="square" lIns="0" tIns="0" rIns="0" bIns="0" rtlCol="0" anchor="ctr"/>
          <a:lstStyle/>
          <a:p>
            <a:pPr indent="0" marL="0">
              <a:buNone/>
            </a:pPr>
            <a:r>
              <a:rPr lang="en-US" sz="1500" b="1" dirty="0">
                <a:solidFill>
                  <a:schemeClr val="tx2"/>
                </a:solidFill>
              </a:rPr>
              <a:t>Missing security headers (5)</a:t>
            </a:r>
            <a:endParaRPr lang="en-US" sz="1500" dirty="0"/>
          </a:p>
        </p:txBody>
      </p:sp>
      <p:sp>
        <p:nvSpPr>
          <p:cNvPr id="7" name="Result detail 1"/>
          <p:cNvSpPr txBox="1"/>
          <p:nvPr/>
        </p:nvSpPr>
        <p:spPr>
          <a:xfrm>
            <a:off x="685800" y="1965960"/>
            <a:ext cx="3611880" cy="640080"/>
          </a:xfrm>
          <a:prstGeom prst="rect">
            <a:avLst/>
          </a:prstGeom>
          <a:noFill/>
          <a:ln/>
        </p:spPr>
        <p:txBody>
          <a:bodyPr wrap="square" lIns="0" tIns="0" rIns="0" bIns="0" rtlCol="0" anchor="t"/>
          <a:lstStyle/>
          <a:p>
            <a:pPr indent="0" marL="0">
              <a:buNone/>
            </a:pPr>
            <a:r>
              <a:rPr lang="en-US" sz="1200" dirty="0">
                <a:solidFill>
                  <a:schemeClr val="tx1"/>
                </a:solidFill>
              </a:rPr>
              <a:t>CSP, HSTS, X-Content-Type-Options, Referrer-Policy, Permissions-Policy</a:t>
            </a:r>
            <a:endParaRPr lang="en-US" sz="1200" dirty="0"/>
          </a:p>
        </p:txBody>
      </p:sp>
      <p:sp>
        <p:nvSpPr>
          <p:cNvPr id="8" name="Finding ref 1"/>
          <p:cNvSpPr txBox="1"/>
          <p:nvPr/>
        </p:nvSpPr>
        <p:spPr>
          <a:xfrm>
            <a:off x="3657600" y="1207008"/>
            <a:ext cx="731520" cy="228600"/>
          </a:xfrm>
          <a:prstGeom prst="rect">
            <a:avLst/>
          </a:prstGeom>
          <a:noFill/>
          <a:ln/>
        </p:spPr>
        <p:txBody>
          <a:bodyPr wrap="square" lIns="0" tIns="0" rIns="0" bIns="0" rtlCol="0" anchor="ctr"/>
          <a:lstStyle/>
          <a:p>
            <a:pPr algn="r" indent="0" marL="0">
              <a:buNone/>
            </a:pPr>
            <a:r>
              <a:rPr lang="en-US" sz="1100" b="1" dirty="0">
                <a:solidFill>
                  <a:schemeClr val="accent5"/>
                </a:solidFill>
              </a:rPr>
              <a:t>F-04</a:t>
            </a:r>
            <a:endParaRPr lang="en-US" sz="1100" dirty="0"/>
          </a:p>
        </p:txBody>
      </p:sp>
      <p:sp>
        <p:nvSpPr>
          <p:cNvPr id="9" name="Result card 2"/>
          <p:cNvSpPr/>
          <p:nvPr/>
        </p:nvSpPr>
        <p:spPr>
          <a:xfrm>
            <a:off x="4663440" y="1097280"/>
            <a:ext cx="4023360" cy="1600200"/>
          </a:xfrm>
          <a:prstGeom prst="roundRect">
            <a:avLst>
              <a:gd name="adj" fmla="val 4571"/>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10" name="Result icon 2 circle"/>
          <p:cNvSpPr/>
          <p:nvPr/>
        </p:nvSpPr>
        <p:spPr>
          <a:xfrm>
            <a:off x="4846320" y="1280160"/>
            <a:ext cx="548640" cy="548640"/>
          </a:xfrm>
          <a:prstGeom prst="ellipse">
            <a:avLst/>
          </a:prstGeom>
          <a:solidFill>
            <a:srgbClr val="E4572E"/>
          </a:solidFill>
          <a:ln w="12700">
            <a:solidFill>
              <a:srgbClr val="E4572E"/>
            </a:solidFill>
            <a:prstDash val="solid"/>
          </a:ln>
        </p:spPr>
      </p:sp>
      <p:pic>
        <p:nvPicPr>
          <p:cNvPr id="11" name="Image 1" descr="Result icon 2">    </p:cNvPr>
          <p:cNvPicPr>
            <a:picLocks noChangeAspect="1"/>
          </p:cNvPicPr>
          <p:nvPr/>
        </p:nvPicPr>
        <p:blipFill>
          <a:blip r:embed="rId2"/>
          <a:stretch>
            <a:fillRect/>
          </a:stretch>
        </p:blipFill>
        <p:spPr>
          <a:xfrm>
            <a:off x="4983480" y="1417320"/>
            <a:ext cx="274320" cy="274320"/>
          </a:xfrm>
          <a:prstGeom prst="rect">
            <a:avLst/>
          </a:prstGeom>
        </p:spPr>
      </p:pic>
      <p:sp>
        <p:nvSpPr>
          <p:cNvPr id="12" name="Result heading 2"/>
          <p:cNvSpPr txBox="1"/>
          <p:nvPr/>
        </p:nvSpPr>
        <p:spPr>
          <a:xfrm>
            <a:off x="5577840" y="1280160"/>
            <a:ext cx="2926080" cy="548640"/>
          </a:xfrm>
          <a:prstGeom prst="rect">
            <a:avLst/>
          </a:prstGeom>
          <a:noFill/>
          <a:ln/>
        </p:spPr>
        <p:txBody>
          <a:bodyPr wrap="square" lIns="0" tIns="0" rIns="0" bIns="0" rtlCol="0" anchor="ctr"/>
          <a:lstStyle/>
          <a:p>
            <a:pPr indent="0" marL="0">
              <a:buNone/>
            </a:pPr>
            <a:r>
              <a:rPr lang="en-US" sz="1500" b="1" dirty="0">
                <a:solidFill>
                  <a:schemeClr val="tx2"/>
                </a:solidFill>
              </a:rPr>
              <a:t>Directory indexing (4)</a:t>
            </a:r>
            <a:endParaRPr lang="en-US" sz="1500" dirty="0"/>
          </a:p>
        </p:txBody>
      </p:sp>
      <p:sp>
        <p:nvSpPr>
          <p:cNvPr id="13" name="Result detail 2"/>
          <p:cNvSpPr txBox="1"/>
          <p:nvPr/>
        </p:nvSpPr>
        <p:spPr>
          <a:xfrm>
            <a:off x="4892040" y="1965960"/>
            <a:ext cx="3611880" cy="640080"/>
          </a:xfrm>
          <a:prstGeom prst="rect">
            <a:avLst/>
          </a:prstGeom>
          <a:noFill/>
          <a:ln/>
        </p:spPr>
        <p:txBody>
          <a:bodyPr wrap="square" lIns="0" tIns="0" rIns="0" bIns="0" rtlCol="0" anchor="t"/>
          <a:lstStyle/>
          <a:p>
            <a:pPr indent="0" marL="0">
              <a:buNone/>
            </a:pPr>
            <a:r>
              <a:rPr lang="en-US" sz="1200" dirty="0">
                <a:solidFill>
                  <a:schemeClr val="tx1"/>
                </a:solidFill>
              </a:rPr>
              <a:t>/config/, /tests/, /database/, /docs/</a:t>
            </a:r>
            <a:endParaRPr lang="en-US" sz="1200" dirty="0"/>
          </a:p>
        </p:txBody>
      </p:sp>
      <p:sp>
        <p:nvSpPr>
          <p:cNvPr id="14" name="Finding ref 2"/>
          <p:cNvSpPr txBox="1"/>
          <p:nvPr/>
        </p:nvSpPr>
        <p:spPr>
          <a:xfrm>
            <a:off x="7863840" y="1207008"/>
            <a:ext cx="731520" cy="228600"/>
          </a:xfrm>
          <a:prstGeom prst="rect">
            <a:avLst/>
          </a:prstGeom>
          <a:noFill/>
          <a:ln/>
        </p:spPr>
        <p:txBody>
          <a:bodyPr wrap="square" lIns="0" tIns="0" rIns="0" bIns="0" rtlCol="0" anchor="ctr"/>
          <a:lstStyle/>
          <a:p>
            <a:pPr algn="r" indent="0" marL="0">
              <a:buNone/>
            </a:pPr>
            <a:r>
              <a:rPr lang="en-US" sz="1100" b="1" dirty="0">
                <a:solidFill>
                  <a:schemeClr val="accent5"/>
                </a:solidFill>
              </a:rPr>
              <a:t>F-01</a:t>
            </a:r>
            <a:endParaRPr lang="en-US" sz="1100" dirty="0"/>
          </a:p>
        </p:txBody>
      </p:sp>
      <p:sp>
        <p:nvSpPr>
          <p:cNvPr id="15" name="Result card 3"/>
          <p:cNvSpPr/>
          <p:nvPr/>
        </p:nvSpPr>
        <p:spPr>
          <a:xfrm>
            <a:off x="457200" y="2880360"/>
            <a:ext cx="4023360" cy="1600200"/>
          </a:xfrm>
          <a:prstGeom prst="roundRect">
            <a:avLst>
              <a:gd name="adj" fmla="val 4571"/>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16" name="Result icon 3 circle"/>
          <p:cNvSpPr/>
          <p:nvPr/>
        </p:nvSpPr>
        <p:spPr>
          <a:xfrm>
            <a:off x="640080" y="3063240"/>
            <a:ext cx="548640" cy="548640"/>
          </a:xfrm>
          <a:prstGeom prst="ellipse">
            <a:avLst/>
          </a:prstGeom>
          <a:solidFill>
            <a:srgbClr val="E4572E"/>
          </a:solidFill>
          <a:ln w="12700">
            <a:solidFill>
              <a:srgbClr val="E4572E"/>
            </a:solidFill>
            <a:prstDash val="solid"/>
          </a:ln>
        </p:spPr>
      </p:sp>
      <p:pic>
        <p:nvPicPr>
          <p:cNvPr id="17" name="Image 2" descr="Result icon 3">    </p:cNvPr>
          <p:cNvPicPr>
            <a:picLocks noChangeAspect="1"/>
          </p:cNvPicPr>
          <p:nvPr/>
        </p:nvPicPr>
        <p:blipFill>
          <a:blip r:embed="rId3"/>
          <a:stretch>
            <a:fillRect/>
          </a:stretch>
        </p:blipFill>
        <p:spPr>
          <a:xfrm>
            <a:off x="777240" y="3200400"/>
            <a:ext cx="274320" cy="274320"/>
          </a:xfrm>
          <a:prstGeom prst="rect">
            <a:avLst/>
          </a:prstGeom>
        </p:spPr>
      </p:pic>
      <p:sp>
        <p:nvSpPr>
          <p:cNvPr id="18" name="Result heading 3"/>
          <p:cNvSpPr txBox="1"/>
          <p:nvPr/>
        </p:nvSpPr>
        <p:spPr>
          <a:xfrm>
            <a:off x="1371600" y="3063240"/>
            <a:ext cx="2926080" cy="548640"/>
          </a:xfrm>
          <a:prstGeom prst="rect">
            <a:avLst/>
          </a:prstGeom>
          <a:noFill/>
          <a:ln/>
        </p:spPr>
        <p:txBody>
          <a:bodyPr wrap="square" lIns="0" tIns="0" rIns="0" bIns="0" rtlCol="0" anchor="ctr"/>
          <a:lstStyle/>
          <a:p>
            <a:pPr indent="0" marL="0">
              <a:buNone/>
            </a:pPr>
            <a:r>
              <a:rPr lang="en-US" sz="1500" b="1" dirty="0">
                <a:solidFill>
                  <a:schemeClr val="tx2"/>
                </a:solidFill>
              </a:rPr>
              <a:t>Exposed repo files (5)</a:t>
            </a:r>
            <a:endParaRPr lang="en-US" sz="1500" dirty="0"/>
          </a:p>
        </p:txBody>
      </p:sp>
      <p:sp>
        <p:nvSpPr>
          <p:cNvPr id="19" name="Result detail 3"/>
          <p:cNvSpPr txBox="1"/>
          <p:nvPr/>
        </p:nvSpPr>
        <p:spPr>
          <a:xfrm>
            <a:off x="685800" y="3749040"/>
            <a:ext cx="3611880" cy="640080"/>
          </a:xfrm>
          <a:prstGeom prst="rect">
            <a:avLst/>
          </a:prstGeom>
          <a:noFill/>
          <a:ln/>
        </p:spPr>
        <p:txBody>
          <a:bodyPr wrap="square" lIns="0" tIns="0" rIns="0" bIns="0" rtlCol="0" anchor="t"/>
          <a:lstStyle/>
          <a:p>
            <a:pPr indent="0" marL="0">
              <a:buNone/>
            </a:pPr>
            <a:r>
              <a:rPr lang="en-US" sz="1200" dirty="0">
                <a:solidFill>
                  <a:schemeClr val="tx1"/>
                </a:solidFill>
              </a:rPr>
              <a:t>.git/index, .git/HEAD, .git/config, .gitignore, .dockerignore</a:t>
            </a:r>
            <a:endParaRPr lang="en-US" sz="1200" dirty="0"/>
          </a:p>
        </p:txBody>
      </p:sp>
      <p:sp>
        <p:nvSpPr>
          <p:cNvPr id="20" name="Finding ref 3"/>
          <p:cNvSpPr txBox="1"/>
          <p:nvPr/>
        </p:nvSpPr>
        <p:spPr>
          <a:xfrm>
            <a:off x="3657600" y="2990088"/>
            <a:ext cx="731520" cy="228600"/>
          </a:xfrm>
          <a:prstGeom prst="rect">
            <a:avLst/>
          </a:prstGeom>
          <a:noFill/>
          <a:ln/>
        </p:spPr>
        <p:txBody>
          <a:bodyPr wrap="square" lIns="0" tIns="0" rIns="0" bIns="0" rtlCol="0" anchor="ctr"/>
          <a:lstStyle/>
          <a:p>
            <a:pPr algn="r" indent="0" marL="0">
              <a:buNone/>
            </a:pPr>
            <a:r>
              <a:rPr lang="en-US" sz="1100" b="1" dirty="0">
                <a:solidFill>
                  <a:schemeClr val="accent5"/>
                </a:solidFill>
              </a:rPr>
              <a:t>F-02</a:t>
            </a:r>
            <a:endParaRPr lang="en-US" sz="1100" dirty="0"/>
          </a:p>
        </p:txBody>
      </p:sp>
      <p:sp>
        <p:nvSpPr>
          <p:cNvPr id="21" name="Result card 4"/>
          <p:cNvSpPr/>
          <p:nvPr/>
        </p:nvSpPr>
        <p:spPr>
          <a:xfrm>
            <a:off x="4663440" y="2880360"/>
            <a:ext cx="4023360" cy="1600200"/>
          </a:xfrm>
          <a:prstGeom prst="roundRect">
            <a:avLst>
              <a:gd name="adj" fmla="val 4571"/>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22" name="Result icon 4 circle"/>
          <p:cNvSpPr/>
          <p:nvPr/>
        </p:nvSpPr>
        <p:spPr>
          <a:xfrm>
            <a:off x="4846320" y="3063240"/>
            <a:ext cx="548640" cy="548640"/>
          </a:xfrm>
          <a:prstGeom prst="ellipse">
            <a:avLst/>
          </a:prstGeom>
          <a:solidFill>
            <a:srgbClr val="3A7CA5"/>
          </a:solidFill>
          <a:ln w="12700">
            <a:solidFill>
              <a:srgbClr val="3A7CA5"/>
            </a:solidFill>
            <a:prstDash val="solid"/>
          </a:ln>
        </p:spPr>
      </p:sp>
      <p:pic>
        <p:nvPicPr>
          <p:cNvPr id="23" name="Image 3" descr="Result icon 4">    </p:cNvPr>
          <p:cNvPicPr>
            <a:picLocks noChangeAspect="1"/>
          </p:cNvPicPr>
          <p:nvPr/>
        </p:nvPicPr>
        <p:blipFill>
          <a:blip r:embed="rId4"/>
          <a:stretch>
            <a:fillRect/>
          </a:stretch>
        </p:blipFill>
        <p:spPr>
          <a:xfrm>
            <a:off x="4983480" y="3200400"/>
            <a:ext cx="274320" cy="274320"/>
          </a:xfrm>
          <a:prstGeom prst="rect">
            <a:avLst/>
          </a:prstGeom>
        </p:spPr>
      </p:pic>
      <p:sp>
        <p:nvSpPr>
          <p:cNvPr id="24" name="Result heading 4"/>
          <p:cNvSpPr txBox="1"/>
          <p:nvPr/>
        </p:nvSpPr>
        <p:spPr>
          <a:xfrm>
            <a:off x="5577840" y="3063240"/>
            <a:ext cx="2926080" cy="548640"/>
          </a:xfrm>
          <a:prstGeom prst="rect">
            <a:avLst/>
          </a:prstGeom>
          <a:noFill/>
          <a:ln/>
        </p:spPr>
        <p:txBody>
          <a:bodyPr wrap="square" lIns="0" tIns="0" rIns="0" bIns="0" rtlCol="0" anchor="ctr"/>
          <a:lstStyle/>
          <a:p>
            <a:pPr indent="0" marL="0">
              <a:buNone/>
            </a:pPr>
            <a:r>
              <a:rPr lang="en-US" sz="1500" b="1" dirty="0">
                <a:solidFill>
                  <a:schemeClr val="tx2"/>
                </a:solidFill>
              </a:rPr>
              <a:t>Needs manual validation</a:t>
            </a:r>
            <a:endParaRPr lang="en-US" sz="1500" dirty="0"/>
          </a:p>
        </p:txBody>
      </p:sp>
      <p:sp>
        <p:nvSpPr>
          <p:cNvPr id="25" name="Result detail 4"/>
          <p:cNvSpPr txBox="1"/>
          <p:nvPr/>
        </p:nvSpPr>
        <p:spPr>
          <a:xfrm>
            <a:off x="4892040" y="3749040"/>
            <a:ext cx="3611880" cy="640080"/>
          </a:xfrm>
          <a:prstGeom prst="rect">
            <a:avLst/>
          </a:prstGeom>
          <a:noFill/>
          <a:ln/>
        </p:spPr>
        <p:txBody>
          <a:bodyPr wrap="square" lIns="0" tIns="0" rIns="0" bIns="0" rtlCol="0" anchor="t"/>
          <a:lstStyle/>
          <a:p>
            <a:pPr indent="0" marL="0">
              <a:buNone/>
            </a:pPr>
            <a:r>
              <a:rPr lang="en-US" sz="1200" dirty="0">
                <a:solidFill>
                  <a:schemeClr val="tx1"/>
                </a:solidFill>
              </a:rPr>
              <a:t>Open each URL, confirm HTTP 200, then finalize the rating</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3200" b="1" dirty="0">
                <a:solidFill>
                  <a:schemeClr val="tx2"/>
                </a:solidFill>
              </a:rPr>
              <a:t>Burp Suite: capturing the login</a:t>
            </a:r>
            <a:endParaRPr lang="en-US" sz="3200" dirty="0"/>
          </a:p>
        </p:txBody>
      </p:sp>
      <p:sp>
        <p:nvSpPr>
          <p:cNvPr id="3" name="Burp Suite HTTP history screenshot frame"/>
          <p:cNvSpPr/>
          <p:nvPr/>
        </p:nvSpPr>
        <p:spPr>
          <a:xfrm>
            <a:off x="420624" y="1014984"/>
            <a:ext cx="5193792" cy="2732809"/>
          </a:xfrm>
          <a:prstGeom prst="rect">
            <a:avLst/>
          </a:prstGeom>
          <a:solidFill>
            <a:schemeClr val="bg1"/>
          </a:solidFill>
          <a:ln w="9525">
            <a:solidFill>
              <a:srgbClr val="C9D4DE"/>
            </a:solidFill>
            <a:prstDash val="solid"/>
          </a:ln>
          <a:effectLst>
            <a:outerShdw sx="100000" sy="100000" kx="0" ky="0" algn="bl" rotWithShape="0" blurRad="76200" dist="25400" dir="5400000">
              <a:srgbClr val="000000">
                <a:alpha val="12000"/>
              </a:srgbClr>
            </a:outerShdw>
          </a:effectLst>
        </p:spPr>
      </p:sp>
      <p:pic>
        <p:nvPicPr>
          <p:cNvPr id="4" name="Image 0" descr="Burp Suite HTTP history screenshot">    </p:cNvPr>
          <p:cNvPicPr>
            <a:picLocks noChangeAspect="1"/>
          </p:cNvPicPr>
          <p:nvPr/>
        </p:nvPicPr>
        <p:blipFill>
          <a:blip r:embed="rId1"/>
          <a:stretch>
            <a:fillRect/>
          </a:stretch>
        </p:blipFill>
        <p:spPr>
          <a:xfrm>
            <a:off x="457200" y="1051560"/>
            <a:ext cx="5120640" cy="2659657"/>
          </a:xfrm>
          <a:prstGeom prst="rect">
            <a:avLst/>
          </a:prstGeom>
        </p:spPr>
      </p:pic>
      <p:sp>
        <p:nvSpPr>
          <p:cNvPr id="5" name="Request card"/>
          <p:cNvSpPr/>
          <p:nvPr/>
        </p:nvSpPr>
        <p:spPr>
          <a:xfrm>
            <a:off x="5852160" y="1051560"/>
            <a:ext cx="2834640" cy="2659657"/>
          </a:xfrm>
          <a:prstGeom prst="roundRect">
            <a:avLst>
              <a:gd name="adj" fmla="val 2750"/>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6" name="Request 19 heading"/>
          <p:cNvSpPr txBox="1"/>
          <p:nvPr/>
        </p:nvSpPr>
        <p:spPr>
          <a:xfrm>
            <a:off x="6035040" y="1161288"/>
            <a:ext cx="2468880" cy="256032"/>
          </a:xfrm>
          <a:prstGeom prst="rect">
            <a:avLst/>
          </a:prstGeom>
          <a:noFill/>
          <a:ln/>
        </p:spPr>
        <p:txBody>
          <a:bodyPr wrap="square" lIns="0" tIns="0" rIns="0" bIns="0" rtlCol="0" anchor="ctr"/>
          <a:lstStyle/>
          <a:p>
            <a:pPr indent="0" marL="0">
              <a:buNone/>
            </a:pPr>
            <a:r>
              <a:rPr lang="en-US" sz="1500" b="1" dirty="0">
                <a:solidFill>
                  <a:schemeClr val="accent4"/>
                </a:solidFill>
              </a:rPr>
              <a:t>Request #19</a:t>
            </a:r>
            <a:endParaRPr lang="en-US" sz="1500" dirty="0"/>
          </a:p>
        </p:txBody>
      </p:sp>
      <p:sp>
        <p:nvSpPr>
          <p:cNvPr id="7" name="Request 19 details"/>
          <p:cNvSpPr txBox="1"/>
          <p:nvPr/>
        </p:nvSpPr>
        <p:spPr>
          <a:xfrm>
            <a:off x="6035040" y="1444752"/>
            <a:ext cx="2514600" cy="1325880"/>
          </a:xfrm>
          <a:prstGeom prst="rect">
            <a:avLst/>
          </a:prstGeom>
          <a:noFill/>
          <a:ln/>
        </p:spPr>
        <p:txBody>
          <a:bodyPr wrap="square" lIns="0" tIns="0" rIns="0" bIns="0" rtlCol="0" anchor="t"/>
          <a:lstStyle/>
          <a:p>
            <a:pPr indent="0" marL="0">
              <a:spcAft>
                <a:spcPts val="300"/>
              </a:spcAft>
              <a:buNone/>
            </a:pPr>
            <a:r>
              <a:rPr lang="en-US" sz="1200" b="1" dirty="0">
                <a:solidFill>
                  <a:schemeClr val="tx1"/>
                </a:solidFill>
              </a:rPr>
              <a:t>POST /dvwa/login.php</a:t>
            </a:r>
            <a:endParaRPr lang="en-US" sz="1200" dirty="0"/>
          </a:p>
          <a:p>
            <a:pPr marL="342900" indent="-342900">
              <a:spcAft>
                <a:spcPts val="300"/>
              </a:spcAft>
              <a:buSzPct val="100000"/>
              <a:buChar char="•"/>
            </a:pPr>
            <a:r>
              <a:rPr lang="en-US" sz="1200" dirty="0">
                <a:solidFill>
                  <a:schemeClr val="tx1"/>
                </a:solidFill>
              </a:rPr>
              <a:t>302 redirect to index.php</a:t>
            </a:r>
            <a:endParaRPr lang="en-US" sz="1200" dirty="0"/>
          </a:p>
          <a:p>
            <a:pPr marL="342900" indent="-342900">
              <a:spcAft>
                <a:spcPts val="300"/>
              </a:spcAft>
              <a:buSzPct val="100000"/>
              <a:buChar char="•"/>
            </a:pPr>
            <a:r>
              <a:rPr lang="en-US" sz="1200" dirty="0">
                <a:solidFill>
                  <a:schemeClr val="tx1"/>
                </a:solidFill>
              </a:rPr>
              <a:t>Plain HTTP, no TLS</a:t>
            </a:r>
            <a:endParaRPr lang="en-US" sz="1200" dirty="0"/>
          </a:p>
          <a:p>
            <a:pPr marL="342900" indent="-342900">
              <a:spcAft>
                <a:spcPts val="300"/>
              </a:spcAft>
              <a:buSzPct val="100000"/>
              <a:buChar char="•"/>
            </a:pPr>
            <a:r>
              <a:rPr lang="en-US" sz="1200" dirty="0">
                <a:solidFill>
                  <a:schemeClr val="tx1"/>
                </a:solidFill>
              </a:rPr>
              <a:t>4 body parameters, one is an anti-CSRF token</a:t>
            </a:r>
            <a:endParaRPr lang="en-US" sz="1200" dirty="0"/>
          </a:p>
        </p:txBody>
      </p:sp>
      <p:sp>
        <p:nvSpPr>
          <p:cNvPr id="8" name="Request 20 heading"/>
          <p:cNvSpPr txBox="1"/>
          <p:nvPr/>
        </p:nvSpPr>
        <p:spPr>
          <a:xfrm>
            <a:off x="6035040" y="2834640"/>
            <a:ext cx="2468880" cy="256032"/>
          </a:xfrm>
          <a:prstGeom prst="rect">
            <a:avLst/>
          </a:prstGeom>
          <a:noFill/>
          <a:ln/>
        </p:spPr>
        <p:txBody>
          <a:bodyPr wrap="square" lIns="0" tIns="0" rIns="0" bIns="0" rtlCol="0" anchor="ctr"/>
          <a:lstStyle/>
          <a:p>
            <a:pPr indent="0" marL="0">
              <a:buNone/>
            </a:pPr>
            <a:r>
              <a:rPr lang="en-US" sz="1500" b="1" dirty="0">
                <a:solidFill>
                  <a:schemeClr val="accent4"/>
                </a:solidFill>
              </a:rPr>
              <a:t>Request #20</a:t>
            </a:r>
            <a:endParaRPr lang="en-US" sz="1500" dirty="0"/>
          </a:p>
        </p:txBody>
      </p:sp>
      <p:sp>
        <p:nvSpPr>
          <p:cNvPr id="9" name="Request 20 details"/>
          <p:cNvSpPr txBox="1"/>
          <p:nvPr/>
        </p:nvSpPr>
        <p:spPr>
          <a:xfrm>
            <a:off x="6035040" y="3108960"/>
            <a:ext cx="2514600" cy="640080"/>
          </a:xfrm>
          <a:prstGeom prst="rect">
            <a:avLst/>
          </a:prstGeom>
          <a:noFill/>
          <a:ln/>
        </p:spPr>
        <p:txBody>
          <a:bodyPr wrap="square" lIns="0" tIns="0" rIns="0" bIns="0" rtlCol="0" anchor="t"/>
          <a:lstStyle/>
          <a:p>
            <a:pPr indent="0" marL="0">
              <a:spcAft>
                <a:spcPts val="300"/>
              </a:spcAft>
              <a:buNone/>
            </a:pPr>
            <a:r>
              <a:rPr lang="en-US" sz="1200" b="1" dirty="0">
                <a:solidFill>
                  <a:schemeClr val="tx1"/>
                </a:solidFill>
              </a:rPr>
              <a:t>GET /dvwa/index.php</a:t>
            </a:r>
            <a:endParaRPr lang="en-US" sz="1200" dirty="0"/>
          </a:p>
          <a:p>
            <a:pPr marL="342900" indent="-342900">
              <a:spcAft>
                <a:spcPts val="300"/>
              </a:spcAft>
              <a:buSzPct val="100000"/>
              <a:buChar char="•"/>
            </a:pPr>
            <a:r>
              <a:rPr lang="en-US" sz="1200" dirty="0">
                <a:solidFill>
                  <a:schemeClr val="tx1"/>
                </a:solidFill>
              </a:rPr>
              <a:t>200 OK, 6857 bytes</a:t>
            </a:r>
            <a:endParaRPr lang="en-US" sz="1200" dirty="0"/>
          </a:p>
        </p:txBody>
      </p:sp>
      <p:sp>
        <p:nvSpPr>
          <p:cNvPr id="10" name="Status chip 200"/>
          <p:cNvSpPr/>
          <p:nvPr/>
        </p:nvSpPr>
        <p:spPr>
          <a:xfrm>
            <a:off x="457200" y="3931920"/>
            <a:ext cx="1645920" cy="502920"/>
          </a:xfrm>
          <a:prstGeom prst="roundRect">
            <a:avLst>
              <a:gd name="adj" fmla="val 14545"/>
            </a:avLst>
          </a:prstGeom>
          <a:solidFill>
            <a:srgbClr val="00A896"/>
          </a:solidFill>
          <a:ln w="12700">
            <a:solidFill>
              <a:srgbClr val="00A896"/>
            </a:solidFill>
            <a:prstDash val="solid"/>
          </a:ln>
        </p:spPr>
      </p:sp>
      <p:sp>
        <p:nvSpPr>
          <p:cNvPr id="11" name="Status chip text 200"/>
          <p:cNvSpPr txBox="1"/>
          <p:nvPr/>
        </p:nvSpPr>
        <p:spPr>
          <a:xfrm>
            <a:off x="457200" y="3931920"/>
            <a:ext cx="1645920" cy="502920"/>
          </a:xfrm>
          <a:prstGeom prst="rect">
            <a:avLst/>
          </a:prstGeom>
          <a:noFill/>
          <a:ln/>
        </p:spPr>
        <p:txBody>
          <a:bodyPr wrap="square" lIns="0" tIns="0" rIns="0" bIns="0" rtlCol="0" anchor="ctr"/>
          <a:lstStyle/>
          <a:p>
            <a:pPr algn="ctr" indent="0" marL="0">
              <a:buNone/>
            </a:pPr>
            <a:r>
              <a:rPr lang="en-US" sz="1300" b="1" dirty="0">
                <a:solidFill>
                  <a:schemeClr val="bg1"/>
                </a:solidFill>
              </a:rPr>
              <a:t>200  success</a:t>
            </a:r>
            <a:endParaRPr lang="en-US" sz="1300" dirty="0"/>
          </a:p>
        </p:txBody>
      </p:sp>
      <p:sp>
        <p:nvSpPr>
          <p:cNvPr id="12" name="Status chip 302"/>
          <p:cNvSpPr/>
          <p:nvPr/>
        </p:nvSpPr>
        <p:spPr>
          <a:xfrm>
            <a:off x="2240280" y="3931920"/>
            <a:ext cx="1645920" cy="502920"/>
          </a:xfrm>
          <a:prstGeom prst="roundRect">
            <a:avLst>
              <a:gd name="adj" fmla="val 14545"/>
            </a:avLst>
          </a:prstGeom>
          <a:solidFill>
            <a:srgbClr val="3A7CA5"/>
          </a:solidFill>
          <a:ln w="12700">
            <a:solidFill>
              <a:srgbClr val="3A7CA5"/>
            </a:solidFill>
            <a:prstDash val="solid"/>
          </a:ln>
        </p:spPr>
      </p:sp>
      <p:sp>
        <p:nvSpPr>
          <p:cNvPr id="13" name="Status chip text 302"/>
          <p:cNvSpPr txBox="1"/>
          <p:nvPr/>
        </p:nvSpPr>
        <p:spPr>
          <a:xfrm>
            <a:off x="2240280" y="3931920"/>
            <a:ext cx="1645920" cy="502920"/>
          </a:xfrm>
          <a:prstGeom prst="rect">
            <a:avLst/>
          </a:prstGeom>
          <a:noFill/>
          <a:ln/>
        </p:spPr>
        <p:txBody>
          <a:bodyPr wrap="square" lIns="0" tIns="0" rIns="0" bIns="0" rtlCol="0" anchor="ctr"/>
          <a:lstStyle/>
          <a:p>
            <a:pPr algn="ctr" indent="0" marL="0">
              <a:buNone/>
            </a:pPr>
            <a:r>
              <a:rPr lang="en-US" sz="1300" b="1" dirty="0">
                <a:solidFill>
                  <a:schemeClr val="bg1"/>
                </a:solidFill>
              </a:rPr>
              <a:t>302  redirect</a:t>
            </a:r>
            <a:endParaRPr lang="en-US" sz="1300" dirty="0"/>
          </a:p>
        </p:txBody>
      </p:sp>
      <p:sp>
        <p:nvSpPr>
          <p:cNvPr id="14" name="Status chip 500"/>
          <p:cNvSpPr/>
          <p:nvPr/>
        </p:nvSpPr>
        <p:spPr>
          <a:xfrm>
            <a:off x="4023360" y="3931920"/>
            <a:ext cx="1645920" cy="502920"/>
          </a:xfrm>
          <a:prstGeom prst="roundRect">
            <a:avLst>
              <a:gd name="adj" fmla="val 14545"/>
            </a:avLst>
          </a:prstGeom>
          <a:solidFill>
            <a:srgbClr val="E4572E"/>
          </a:solidFill>
          <a:ln w="12700">
            <a:solidFill>
              <a:srgbClr val="E4572E"/>
            </a:solidFill>
            <a:prstDash val="solid"/>
          </a:ln>
        </p:spPr>
      </p:sp>
      <p:sp>
        <p:nvSpPr>
          <p:cNvPr id="15" name="Status chip text 500"/>
          <p:cNvSpPr txBox="1"/>
          <p:nvPr/>
        </p:nvSpPr>
        <p:spPr>
          <a:xfrm>
            <a:off x="4023360" y="3931920"/>
            <a:ext cx="1645920" cy="502920"/>
          </a:xfrm>
          <a:prstGeom prst="rect">
            <a:avLst/>
          </a:prstGeom>
          <a:noFill/>
          <a:ln/>
        </p:spPr>
        <p:txBody>
          <a:bodyPr wrap="square" lIns="0" tIns="0" rIns="0" bIns="0" rtlCol="0" anchor="ctr"/>
          <a:lstStyle/>
          <a:p>
            <a:pPr algn="ctr" indent="0" marL="0">
              <a:buNone/>
            </a:pPr>
            <a:r>
              <a:rPr lang="en-US" sz="1300" b="1" dirty="0">
                <a:solidFill>
                  <a:schemeClr val="bg1"/>
                </a:solidFill>
              </a:rPr>
              <a:t>500  server error</a:t>
            </a:r>
            <a:endParaRPr lang="en-US" sz="1300" dirty="0"/>
          </a:p>
        </p:txBody>
      </p:sp>
      <p:sp>
        <p:nvSpPr>
          <p:cNvPr id="16" name="Status note"/>
          <p:cNvSpPr txBox="1"/>
          <p:nvPr/>
        </p:nvSpPr>
        <p:spPr>
          <a:xfrm>
            <a:off x="5852160" y="4023360"/>
            <a:ext cx="2834640" cy="365760"/>
          </a:xfrm>
          <a:prstGeom prst="rect">
            <a:avLst/>
          </a:prstGeom>
          <a:noFill/>
          <a:ln/>
        </p:spPr>
        <p:txBody>
          <a:bodyPr wrap="square" lIns="0" tIns="0" rIns="0" bIns="0" rtlCol="0" anchor="ctr"/>
          <a:lstStyle/>
          <a:p>
            <a:pPr indent="0" marL="0">
              <a:buNone/>
            </a:pPr>
            <a:r>
              <a:rPr lang="en-US" sz="1200" i="1" dirty="0">
                <a:solidFill>
                  <a:schemeClr val="accent5"/>
                </a:solidFill>
              </a:rPr>
              <a:t>The 500s appeared while MariaDB was stopped.</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3200" b="1" dirty="0">
                <a:solidFill>
                  <a:schemeClr val="tx2"/>
                </a:solidFill>
              </a:rPr>
              <a:t>Headers and cookies: curl -I</a:t>
            </a:r>
            <a:endParaRPr lang="en-US" sz="3200" dirty="0"/>
          </a:p>
        </p:txBody>
      </p:sp>
      <p:sp>
        <p:nvSpPr>
          <p:cNvPr id="3" name="curl Set-Cookie output screenshot frame"/>
          <p:cNvSpPr/>
          <p:nvPr/>
        </p:nvSpPr>
        <p:spPr>
          <a:xfrm>
            <a:off x="420624" y="1014984"/>
            <a:ext cx="8302752" cy="1617957"/>
          </a:xfrm>
          <a:prstGeom prst="rect">
            <a:avLst/>
          </a:prstGeom>
          <a:solidFill>
            <a:schemeClr val="bg1"/>
          </a:solidFill>
          <a:ln w="9525">
            <a:solidFill>
              <a:srgbClr val="C9D4DE"/>
            </a:solidFill>
            <a:prstDash val="solid"/>
          </a:ln>
          <a:effectLst>
            <a:outerShdw sx="100000" sy="100000" kx="0" ky="0" algn="bl" rotWithShape="0" blurRad="76200" dist="25400" dir="5400000">
              <a:srgbClr val="000000">
                <a:alpha val="12000"/>
              </a:srgbClr>
            </a:outerShdw>
          </a:effectLst>
        </p:spPr>
      </p:sp>
      <p:pic>
        <p:nvPicPr>
          <p:cNvPr id="4" name="Image 0" descr="curl Set-Cookie output screenshot">    </p:cNvPr>
          <p:cNvPicPr>
            <a:picLocks noChangeAspect="1"/>
          </p:cNvPicPr>
          <p:nvPr/>
        </p:nvPicPr>
        <p:blipFill>
          <a:blip r:embed="rId1"/>
          <a:stretch>
            <a:fillRect/>
          </a:stretch>
        </p:blipFill>
        <p:spPr>
          <a:xfrm>
            <a:off x="457200" y="1051560"/>
            <a:ext cx="8229600" cy="1544805"/>
          </a:xfrm>
          <a:prstGeom prst="rect">
            <a:avLst/>
          </a:prstGeom>
        </p:spPr>
      </p:pic>
      <p:sp>
        <p:nvSpPr>
          <p:cNvPr id="5" name="Missing headers card"/>
          <p:cNvSpPr/>
          <p:nvPr/>
        </p:nvSpPr>
        <p:spPr>
          <a:xfrm>
            <a:off x="457200" y="2870685"/>
            <a:ext cx="3566160" cy="1747035"/>
          </a:xfrm>
          <a:prstGeom prst="roundRect">
            <a:avLst>
              <a:gd name="adj" fmla="val 4187"/>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6" name="Missing headers heading"/>
          <p:cNvSpPr txBox="1"/>
          <p:nvPr/>
        </p:nvSpPr>
        <p:spPr>
          <a:xfrm>
            <a:off x="640080" y="2962125"/>
            <a:ext cx="3200400" cy="274320"/>
          </a:xfrm>
          <a:prstGeom prst="rect">
            <a:avLst/>
          </a:prstGeom>
          <a:noFill/>
          <a:ln/>
        </p:spPr>
        <p:txBody>
          <a:bodyPr wrap="square" lIns="0" tIns="0" rIns="0" bIns="0" rtlCol="0" anchor="ctr"/>
          <a:lstStyle/>
          <a:p>
            <a:pPr indent="0" marL="0">
              <a:buNone/>
            </a:pPr>
            <a:r>
              <a:rPr lang="en-US" sz="1500" b="1" dirty="0">
                <a:solidFill>
                  <a:schemeClr val="accent3"/>
                </a:solidFill>
              </a:rPr>
              <a:t>Not returned</a:t>
            </a:r>
            <a:endParaRPr lang="en-US" sz="1500" dirty="0"/>
          </a:p>
        </p:txBody>
      </p:sp>
      <p:sp>
        <p:nvSpPr>
          <p:cNvPr id="7" name="Missing headers list"/>
          <p:cNvSpPr txBox="1"/>
          <p:nvPr/>
        </p:nvSpPr>
        <p:spPr>
          <a:xfrm>
            <a:off x="640080" y="3282165"/>
            <a:ext cx="3200400" cy="1244115"/>
          </a:xfrm>
          <a:prstGeom prst="rect">
            <a:avLst/>
          </a:prstGeom>
          <a:noFill/>
          <a:ln/>
        </p:spPr>
        <p:txBody>
          <a:bodyPr wrap="square" lIns="0" tIns="0" rIns="0" bIns="0" rtlCol="0" anchor="t"/>
          <a:lstStyle/>
          <a:p>
            <a:pPr indent="0" marL="0">
              <a:buNone/>
            </a:pPr>
            <a:r>
              <a:rPr lang="en-US" sz="1200" dirty="0">
                <a:solidFill>
                  <a:schemeClr val="tx1"/>
                </a:solidFill>
              </a:rPr>
              <a:t>Content-Security-Policy, Strict-Transport-Security, X-Content-Type-Options, Referrer-Policy, Permissions-Policy</a:t>
            </a:r>
            <a:endParaRPr lang="en-US" sz="1200" dirty="0"/>
          </a:p>
        </p:txBody>
      </p:sp>
      <p:graphicFrame>
        <p:nvGraphicFramePr>
          <p:cNvPr id="10" name="Cookie attribute table"/>
          <p:cNvGraphicFramePr>
            <a:graphicFrameLocks noGrp="1"/>
          </p:cNvGraphicFramePr>
          <p:nvPr>
            <p:extLst>
              <p:ext uri="{D42A27DB-BD31-4B8C-83A1-F6EECF244321}">
                <p14:modId xmlns:p14="http://schemas.microsoft.com/office/powerpoint/2010/main" val="1579011935"/>
              </p:ext>
            </p:extLst>
          </p:nvPr>
        </p:nvGraphicFramePr>
        <p:xfrm>
          <a:off x="4251960" y="2870685"/>
          <a:ext cx="4434840" cy="914400"/>
        </p:xfrm>
        <a:graphic>
          <a:graphicData uri="http://schemas.openxmlformats.org/drawingml/2006/table">
            <a:tbl>
              <a:tblPr/>
              <a:tblGrid>
                <a:gridCol w="1325880"/>
                <a:gridCol w="1005840"/>
                <a:gridCol w="1051560"/>
                <a:gridCol w="1051560"/>
              </a:tblGrid>
              <a:tr h="329184">
                <a:tc>
                  <a:txBody>
                    <a:bodyPr/>
                    <a:lstStyle/>
                    <a:p>
                      <a:pPr indent="0" marL="0">
                        <a:buNone/>
                      </a:pPr>
                      <a:r>
                        <a:rPr lang="en-US" sz="1200" b="1" dirty="0">
                          <a:solidFill>
                            <a:srgbClr val="FFFFFF"/>
                          </a:solidFill>
                        </a:rPr>
                        <a:t>Cookie</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0B2540"/>
                    </a:solidFill>
                  </a:tcPr>
                </a:tc>
                <a:tc>
                  <a:txBody>
                    <a:bodyPr/>
                    <a:lstStyle/>
                    <a:p>
                      <a:pPr indent="0" marL="0">
                        <a:buNone/>
                      </a:pPr>
                      <a:r>
                        <a:rPr lang="en-US" sz="1200" b="1" dirty="0">
                          <a:solidFill>
                            <a:srgbClr val="FFFFFF"/>
                          </a:solidFill>
                        </a:rPr>
                        <a:t>HttpOnly</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0B2540"/>
                    </a:solidFill>
                  </a:tcPr>
                </a:tc>
                <a:tc>
                  <a:txBody>
                    <a:bodyPr/>
                    <a:lstStyle/>
                    <a:p>
                      <a:pPr indent="0" marL="0">
                        <a:buNone/>
                      </a:pPr>
                      <a:r>
                        <a:rPr lang="en-US" sz="1200" b="1" dirty="0">
                          <a:solidFill>
                            <a:srgbClr val="FFFFFF"/>
                          </a:solidFill>
                        </a:rPr>
                        <a:t>SameSite</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0B2540"/>
                    </a:solidFill>
                  </a:tcPr>
                </a:tc>
                <a:tc>
                  <a:txBody>
                    <a:bodyPr/>
                    <a:lstStyle/>
                    <a:p>
                      <a:pPr indent="0" marL="0">
                        <a:buNone/>
                      </a:pPr>
                      <a:r>
                        <a:rPr lang="en-US" sz="1200" b="1" dirty="0">
                          <a:solidFill>
                            <a:srgbClr val="FFFFFF"/>
                          </a:solidFill>
                        </a:rPr>
                        <a:t>Secure</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0B2540"/>
                    </a:solidFill>
                  </a:tcPr>
                </a:tc>
              </a:tr>
              <a:tr h="329184">
                <a:tc>
                  <a:txBody>
                    <a:bodyPr/>
                    <a:lstStyle/>
                    <a:p>
                      <a:pPr indent="0" marL="0">
                        <a:buNone/>
                      </a:pPr>
                      <a:r>
                        <a:rPr lang="en-US" sz="1200" dirty="0">
                          <a:solidFill>
                            <a:srgbClr val="0B2540"/>
                          </a:solidFill>
                        </a:rPr>
                        <a:t>PHPSESSID</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tcPr>
                </a:tc>
                <a:tc>
                  <a:txBody>
                    <a:bodyPr/>
                    <a:lstStyle/>
                    <a:p>
                      <a:pPr indent="0" marL="0">
                        <a:buNone/>
                      </a:pPr>
                      <a:r>
                        <a:rPr lang="en-US" sz="1200" dirty="0">
                          <a:solidFill>
                            <a:srgbClr val="0B2540"/>
                          </a:solidFill>
                        </a:rPr>
                        <a:t>Yes</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DDEFD6"/>
                    </a:solidFill>
                  </a:tcPr>
                </a:tc>
                <a:tc>
                  <a:txBody>
                    <a:bodyPr/>
                    <a:lstStyle/>
                    <a:p>
                      <a:pPr indent="0" marL="0">
                        <a:buNone/>
                      </a:pPr>
                      <a:r>
                        <a:rPr lang="en-US" sz="1200" dirty="0">
                          <a:solidFill>
                            <a:srgbClr val="0B2540"/>
                          </a:solidFill>
                        </a:rPr>
                        <a:t>Strict</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DDEFD6"/>
                    </a:solidFill>
                  </a:tcPr>
                </a:tc>
                <a:tc>
                  <a:txBody>
                    <a:bodyPr/>
                    <a:lstStyle/>
                    <a:p>
                      <a:pPr indent="0" marL="0">
                        <a:buNone/>
                      </a:pPr>
                      <a:r>
                        <a:rPr lang="en-US" sz="1200" dirty="0">
                          <a:solidFill>
                            <a:srgbClr val="0B2540"/>
                          </a:solidFill>
                        </a:rPr>
                        <a:t>No</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CE7B8"/>
                    </a:solidFill>
                  </a:tcPr>
                </a:tc>
              </a:tr>
              <a:tr h="329184">
                <a:tc>
                  <a:txBody>
                    <a:bodyPr/>
                    <a:lstStyle/>
                    <a:p>
                      <a:pPr indent="0" marL="0">
                        <a:buNone/>
                      </a:pPr>
                      <a:r>
                        <a:rPr lang="en-US" sz="1200" dirty="0">
                          <a:solidFill>
                            <a:srgbClr val="0B2540"/>
                          </a:solidFill>
                        </a:rPr>
                        <a:t>security</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tcPr>
                </a:tc>
                <a:tc>
                  <a:txBody>
                    <a:bodyPr/>
                    <a:lstStyle/>
                    <a:p>
                      <a:pPr indent="0" marL="0">
                        <a:buNone/>
                      </a:pPr>
                      <a:r>
                        <a:rPr lang="en-US" sz="1200" dirty="0">
                          <a:solidFill>
                            <a:srgbClr val="0B2540"/>
                          </a:solidFill>
                        </a:rPr>
                        <a:t>Yes</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DDEFD6"/>
                    </a:solidFill>
                  </a:tcPr>
                </a:tc>
                <a:tc>
                  <a:txBody>
                    <a:bodyPr/>
                    <a:lstStyle/>
                    <a:p>
                      <a:pPr indent="0" marL="0">
                        <a:buNone/>
                      </a:pPr>
                      <a:r>
                        <a:rPr lang="en-US" sz="1200" dirty="0">
                          <a:solidFill>
                            <a:srgbClr val="0B2540"/>
                          </a:solidFill>
                        </a:rPr>
                        <a:t>Not set</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CE7B8"/>
                    </a:solidFill>
                  </a:tcPr>
                </a:tc>
                <a:tc>
                  <a:txBody>
                    <a:bodyPr/>
                    <a:lstStyle/>
                    <a:p>
                      <a:pPr indent="0" marL="0">
                        <a:buNone/>
                      </a:pPr>
                      <a:r>
                        <a:rPr lang="en-US" sz="1200" dirty="0">
                          <a:solidFill>
                            <a:srgbClr val="0B2540"/>
                          </a:solidFill>
                        </a:rPr>
                        <a:t>No</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CE7B8"/>
                    </a:solidFill>
                  </a:tcPr>
                </a:tc>
              </a:tr>
            </a:tbl>
          </a:graphicData>
        </a:graphic>
      </p:graphicFrame>
      <p:sp>
        <p:nvSpPr>
          <p:cNvPr id="9" name="Cookie note"/>
          <p:cNvSpPr txBox="1"/>
          <p:nvPr/>
        </p:nvSpPr>
        <p:spPr>
          <a:xfrm>
            <a:off x="4251960" y="3967965"/>
            <a:ext cx="4434840" cy="274320"/>
          </a:xfrm>
          <a:prstGeom prst="rect">
            <a:avLst/>
          </a:prstGeom>
          <a:noFill/>
          <a:ln/>
        </p:spPr>
        <p:txBody>
          <a:bodyPr wrap="square" lIns="0" tIns="0" rIns="0" bIns="0" rtlCol="0" anchor="ctr"/>
          <a:lstStyle/>
          <a:p>
            <a:pPr indent="0" marL="0">
              <a:buNone/>
            </a:pPr>
            <a:r>
              <a:rPr lang="en-US" sz="1200" i="1" dirty="0">
                <a:solidFill>
                  <a:schemeClr val="accent5"/>
                </a:solidFill>
              </a:rPr>
              <a:t>Secure is absent because the lab runs on plain HTTP.</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3200" b="1" dirty="0">
                <a:solidFill>
                  <a:schemeClr val="tx2"/>
                </a:solidFill>
              </a:rPr>
              <a:t>Configuration and log review</a:t>
            </a:r>
            <a:endParaRPr lang="en-US" sz="3200" dirty="0"/>
          </a:p>
        </p:txBody>
      </p:sp>
      <p:sp>
        <p:nvSpPr>
          <p:cNvPr id="3" name="config.inc.php review screenshot (password masked) frame"/>
          <p:cNvSpPr/>
          <p:nvPr/>
        </p:nvSpPr>
        <p:spPr>
          <a:xfrm>
            <a:off x="420624" y="1060704"/>
            <a:ext cx="4645152" cy="1886565"/>
          </a:xfrm>
          <a:prstGeom prst="rect">
            <a:avLst/>
          </a:prstGeom>
          <a:solidFill>
            <a:schemeClr val="bg1"/>
          </a:solidFill>
          <a:ln w="9525">
            <a:solidFill>
              <a:srgbClr val="C9D4DE"/>
            </a:solidFill>
            <a:prstDash val="solid"/>
          </a:ln>
          <a:effectLst>
            <a:outerShdw sx="100000" sy="100000" kx="0" ky="0" algn="bl" rotWithShape="0" blurRad="76200" dist="25400" dir="5400000">
              <a:srgbClr val="000000">
                <a:alpha val="12000"/>
              </a:srgbClr>
            </a:outerShdw>
          </a:effectLst>
        </p:spPr>
      </p:sp>
      <p:pic>
        <p:nvPicPr>
          <p:cNvPr id="4" name="Image 0" descr="config.inc.php review screenshot (password masked)">    </p:cNvPr>
          <p:cNvPicPr>
            <a:picLocks noChangeAspect="1"/>
          </p:cNvPicPr>
          <p:nvPr/>
        </p:nvPicPr>
        <p:blipFill>
          <a:blip r:embed="rId1"/>
          <a:stretch>
            <a:fillRect/>
          </a:stretch>
        </p:blipFill>
        <p:spPr>
          <a:xfrm>
            <a:off x="457200" y="1097280"/>
            <a:ext cx="4572000" cy="1813413"/>
          </a:xfrm>
          <a:prstGeom prst="rect">
            <a:avLst/>
          </a:prstGeom>
        </p:spPr>
      </p:pic>
      <p:sp>
        <p:nvSpPr>
          <p:cNvPr id="5" name="Masking note"/>
          <p:cNvSpPr txBox="1"/>
          <p:nvPr/>
        </p:nvSpPr>
        <p:spPr>
          <a:xfrm>
            <a:off x="457200" y="3047853"/>
            <a:ext cx="4572000" cy="274320"/>
          </a:xfrm>
          <a:prstGeom prst="rect">
            <a:avLst/>
          </a:prstGeom>
          <a:noFill/>
          <a:ln/>
        </p:spPr>
        <p:txBody>
          <a:bodyPr wrap="square" lIns="0" tIns="0" rIns="0" bIns="0" rtlCol="0" anchor="ctr"/>
          <a:lstStyle/>
          <a:p>
            <a:pPr indent="0" marL="0">
              <a:buNone/>
            </a:pPr>
            <a:r>
              <a:rPr lang="en-US" sz="1100" i="1" dirty="0">
                <a:solidFill>
                  <a:schemeClr val="accent5"/>
                </a:solidFill>
              </a:rPr>
              <a:t>Default lab password masked in this slide.</a:t>
            </a:r>
            <a:endParaRPr lang="en-US" sz="1100" dirty="0"/>
          </a:p>
        </p:txBody>
      </p:sp>
      <p:sp>
        <p:nvSpPr>
          <p:cNvPr id="6" name="Config card 1"/>
          <p:cNvSpPr/>
          <p:nvPr/>
        </p:nvSpPr>
        <p:spPr>
          <a:xfrm>
            <a:off x="5303520" y="1097280"/>
            <a:ext cx="3383280" cy="960120"/>
          </a:xfrm>
          <a:prstGeom prst="roundRect">
            <a:avLst>
              <a:gd name="adj" fmla="val 7619"/>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7" name="Config icon 1 circle"/>
          <p:cNvSpPr/>
          <p:nvPr/>
        </p:nvSpPr>
        <p:spPr>
          <a:xfrm>
            <a:off x="5440680" y="1325880"/>
            <a:ext cx="502920" cy="502920"/>
          </a:xfrm>
          <a:prstGeom prst="ellipse">
            <a:avLst/>
          </a:prstGeom>
          <a:solidFill>
            <a:srgbClr val="E4572E"/>
          </a:solidFill>
          <a:ln w="12700">
            <a:solidFill>
              <a:srgbClr val="E4572E"/>
            </a:solidFill>
            <a:prstDash val="solid"/>
          </a:ln>
        </p:spPr>
      </p:sp>
      <p:pic>
        <p:nvPicPr>
          <p:cNvPr id="8" name="Image 1" descr="Config icon 1">    </p:cNvPr>
          <p:cNvPicPr>
            <a:picLocks noChangeAspect="1"/>
          </p:cNvPicPr>
          <p:nvPr/>
        </p:nvPicPr>
        <p:blipFill>
          <a:blip r:embed="rId2"/>
          <a:stretch>
            <a:fillRect/>
          </a:stretch>
        </p:blipFill>
        <p:spPr>
          <a:xfrm>
            <a:off x="5566410" y="1451610"/>
            <a:ext cx="251460" cy="251460"/>
          </a:xfrm>
          <a:prstGeom prst="rect">
            <a:avLst/>
          </a:prstGeom>
        </p:spPr>
      </p:pic>
      <p:sp>
        <p:nvSpPr>
          <p:cNvPr id="9" name="Config heading 1"/>
          <p:cNvSpPr txBox="1"/>
          <p:nvPr/>
        </p:nvSpPr>
        <p:spPr>
          <a:xfrm>
            <a:off x="6080760" y="1188720"/>
            <a:ext cx="2514600" cy="274320"/>
          </a:xfrm>
          <a:prstGeom prst="rect">
            <a:avLst/>
          </a:prstGeom>
          <a:noFill/>
          <a:ln/>
        </p:spPr>
        <p:txBody>
          <a:bodyPr wrap="square" lIns="0" tIns="0" rIns="0" bIns="0" rtlCol="0" anchor="ctr"/>
          <a:lstStyle/>
          <a:p>
            <a:pPr indent="0" marL="0">
              <a:buNone/>
            </a:pPr>
            <a:r>
              <a:rPr lang="en-US" sz="1400" b="1" dirty="0">
                <a:solidFill>
                  <a:schemeClr val="tx2"/>
                </a:solidFill>
              </a:rPr>
              <a:t>Default DB credentials</a:t>
            </a:r>
            <a:endParaRPr lang="en-US" sz="1400" dirty="0"/>
          </a:p>
        </p:txBody>
      </p:sp>
      <p:sp>
        <p:nvSpPr>
          <p:cNvPr id="10" name="Config detail 1"/>
          <p:cNvSpPr txBox="1"/>
          <p:nvPr/>
        </p:nvSpPr>
        <p:spPr>
          <a:xfrm>
            <a:off x="6080760" y="1481328"/>
            <a:ext cx="2514600" cy="530352"/>
          </a:xfrm>
          <a:prstGeom prst="rect">
            <a:avLst/>
          </a:prstGeom>
          <a:noFill/>
          <a:ln/>
        </p:spPr>
        <p:txBody>
          <a:bodyPr wrap="square" lIns="0" tIns="0" rIns="0" bIns="0" rtlCol="0" anchor="t"/>
          <a:lstStyle/>
          <a:p>
            <a:pPr indent="0" marL="0">
              <a:buNone/>
            </a:pPr>
            <a:r>
              <a:rPr lang="en-US" sz="1100" dirty="0">
                <a:solidFill>
                  <a:schemeClr val="tx1"/>
                </a:solidFill>
              </a:rPr>
              <a:t>config.inc.php uses the publicly known default (F-03)</a:t>
            </a:r>
            <a:endParaRPr lang="en-US" sz="1100" dirty="0"/>
          </a:p>
        </p:txBody>
      </p:sp>
      <p:sp>
        <p:nvSpPr>
          <p:cNvPr id="11" name="Config card 2"/>
          <p:cNvSpPr/>
          <p:nvPr/>
        </p:nvSpPr>
        <p:spPr>
          <a:xfrm>
            <a:off x="5303520" y="2194560"/>
            <a:ext cx="3383280" cy="960120"/>
          </a:xfrm>
          <a:prstGeom prst="roundRect">
            <a:avLst>
              <a:gd name="adj" fmla="val 7619"/>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12" name="Config icon 2 circle"/>
          <p:cNvSpPr/>
          <p:nvPr/>
        </p:nvSpPr>
        <p:spPr>
          <a:xfrm>
            <a:off x="5440680" y="2423160"/>
            <a:ext cx="502920" cy="502920"/>
          </a:xfrm>
          <a:prstGeom prst="ellipse">
            <a:avLst/>
          </a:prstGeom>
          <a:solidFill>
            <a:srgbClr val="00A896"/>
          </a:solidFill>
          <a:ln w="12700">
            <a:solidFill>
              <a:srgbClr val="00A896"/>
            </a:solidFill>
            <a:prstDash val="solid"/>
          </a:ln>
        </p:spPr>
      </p:sp>
      <p:pic>
        <p:nvPicPr>
          <p:cNvPr id="13" name="Image 2" descr="Config icon 2">    </p:cNvPr>
          <p:cNvPicPr>
            <a:picLocks noChangeAspect="1"/>
          </p:cNvPicPr>
          <p:nvPr/>
        </p:nvPicPr>
        <p:blipFill>
          <a:blip r:embed="rId3"/>
          <a:stretch>
            <a:fillRect/>
          </a:stretch>
        </p:blipFill>
        <p:spPr>
          <a:xfrm>
            <a:off x="5566410" y="2548890"/>
            <a:ext cx="251460" cy="251460"/>
          </a:xfrm>
          <a:prstGeom prst="rect">
            <a:avLst/>
          </a:prstGeom>
        </p:spPr>
      </p:pic>
      <p:sp>
        <p:nvSpPr>
          <p:cNvPr id="14" name="Config heading 2"/>
          <p:cNvSpPr txBox="1"/>
          <p:nvPr/>
        </p:nvSpPr>
        <p:spPr>
          <a:xfrm>
            <a:off x="6080760" y="2286000"/>
            <a:ext cx="2514600" cy="274320"/>
          </a:xfrm>
          <a:prstGeom prst="rect">
            <a:avLst/>
          </a:prstGeom>
          <a:noFill/>
          <a:ln/>
        </p:spPr>
        <p:txBody>
          <a:bodyPr wrap="square" lIns="0" tIns="0" rIns="0" bIns="0" rtlCol="0" anchor="ctr"/>
          <a:lstStyle/>
          <a:p>
            <a:pPr indent="0" marL="0">
              <a:buNone/>
            </a:pPr>
            <a:r>
              <a:rPr lang="en-US" sz="1400" b="1" dirty="0">
                <a:solidFill>
                  <a:schemeClr val="tx2"/>
                </a:solidFill>
              </a:rPr>
              <a:t>Database kept local</a:t>
            </a:r>
            <a:endParaRPr lang="en-US" sz="1400" dirty="0"/>
          </a:p>
        </p:txBody>
      </p:sp>
      <p:sp>
        <p:nvSpPr>
          <p:cNvPr id="15" name="Config detail 2"/>
          <p:cNvSpPr txBox="1"/>
          <p:nvPr/>
        </p:nvSpPr>
        <p:spPr>
          <a:xfrm>
            <a:off x="6080760" y="2578608"/>
            <a:ext cx="2514600" cy="530352"/>
          </a:xfrm>
          <a:prstGeom prst="rect">
            <a:avLst/>
          </a:prstGeom>
          <a:noFill/>
          <a:ln/>
        </p:spPr>
        <p:txBody>
          <a:bodyPr wrap="square" lIns="0" tIns="0" rIns="0" bIns="0" rtlCol="0" anchor="t"/>
          <a:lstStyle/>
          <a:p>
            <a:pPr indent="0" marL="0">
              <a:buNone/>
            </a:pPr>
            <a:r>
              <a:rPr lang="en-US" sz="1100" dirty="0">
                <a:solidFill>
                  <a:schemeClr val="tx1"/>
                </a:solidFill>
              </a:rPr>
              <a:t>MariaDB reachable on 127.0.0.1 only: a good control</a:t>
            </a:r>
            <a:endParaRPr lang="en-US" sz="1100" dirty="0"/>
          </a:p>
        </p:txBody>
      </p:sp>
      <p:sp>
        <p:nvSpPr>
          <p:cNvPr id="16" name="Config card 3"/>
          <p:cNvSpPr/>
          <p:nvPr/>
        </p:nvSpPr>
        <p:spPr>
          <a:xfrm>
            <a:off x="5303520" y="3291840"/>
            <a:ext cx="3383280" cy="960120"/>
          </a:xfrm>
          <a:prstGeom prst="roundRect">
            <a:avLst>
              <a:gd name="adj" fmla="val 7619"/>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17" name="Config icon 3 circle"/>
          <p:cNvSpPr/>
          <p:nvPr/>
        </p:nvSpPr>
        <p:spPr>
          <a:xfrm>
            <a:off x="5440680" y="3520440"/>
            <a:ext cx="502920" cy="502920"/>
          </a:xfrm>
          <a:prstGeom prst="ellipse">
            <a:avLst/>
          </a:prstGeom>
          <a:solidFill>
            <a:srgbClr val="3A7CA5"/>
          </a:solidFill>
          <a:ln w="12700">
            <a:solidFill>
              <a:srgbClr val="3A7CA5"/>
            </a:solidFill>
            <a:prstDash val="solid"/>
          </a:ln>
        </p:spPr>
      </p:sp>
      <p:pic>
        <p:nvPicPr>
          <p:cNvPr id="18" name="Image 3" descr="Config icon 3">    </p:cNvPr>
          <p:cNvPicPr>
            <a:picLocks noChangeAspect="1"/>
          </p:cNvPicPr>
          <p:nvPr/>
        </p:nvPicPr>
        <p:blipFill>
          <a:blip r:embed="rId4"/>
          <a:stretch>
            <a:fillRect/>
          </a:stretch>
        </p:blipFill>
        <p:spPr>
          <a:xfrm>
            <a:off x="5566410" y="3646170"/>
            <a:ext cx="251460" cy="251460"/>
          </a:xfrm>
          <a:prstGeom prst="rect">
            <a:avLst/>
          </a:prstGeom>
        </p:spPr>
      </p:pic>
      <p:sp>
        <p:nvSpPr>
          <p:cNvPr id="19" name="Config heading 3"/>
          <p:cNvSpPr txBox="1"/>
          <p:nvPr/>
        </p:nvSpPr>
        <p:spPr>
          <a:xfrm>
            <a:off x="6080760" y="3383280"/>
            <a:ext cx="2514600" cy="274320"/>
          </a:xfrm>
          <a:prstGeom prst="rect">
            <a:avLst/>
          </a:prstGeom>
          <a:noFill/>
          <a:ln/>
        </p:spPr>
        <p:txBody>
          <a:bodyPr wrap="square" lIns="0" tIns="0" rIns="0" bIns="0" rtlCol="0" anchor="ctr"/>
          <a:lstStyle/>
          <a:p>
            <a:pPr indent="0" marL="0">
              <a:buNone/>
            </a:pPr>
            <a:r>
              <a:rPr lang="en-US" sz="1400" b="1" dirty="0">
                <a:solidFill>
                  <a:schemeClr val="tx2"/>
                </a:solidFill>
              </a:rPr>
              <a:t>Verbose error logs</a:t>
            </a:r>
            <a:endParaRPr lang="en-US" sz="1400" dirty="0"/>
          </a:p>
        </p:txBody>
      </p:sp>
      <p:sp>
        <p:nvSpPr>
          <p:cNvPr id="20" name="Config detail 3"/>
          <p:cNvSpPr txBox="1"/>
          <p:nvPr/>
        </p:nvSpPr>
        <p:spPr>
          <a:xfrm>
            <a:off x="6080760" y="3675888"/>
            <a:ext cx="2514600" cy="530352"/>
          </a:xfrm>
          <a:prstGeom prst="rect">
            <a:avLst/>
          </a:prstGeom>
          <a:noFill/>
          <a:ln/>
        </p:spPr>
        <p:txBody>
          <a:bodyPr wrap="square" lIns="0" tIns="0" rIns="0" bIns="0" rtlCol="0" anchor="t"/>
          <a:lstStyle/>
          <a:p>
            <a:pPr indent="0" marL="0">
              <a:buNone/>
            </a:pPr>
            <a:r>
              <a:rPr lang="en-US" sz="1100" dirty="0">
                <a:solidFill>
                  <a:schemeClr val="tx1"/>
                </a:solidFill>
              </a:rPr>
              <a:t>PHP stack traces with file paths while the DB was down (F-08)</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3200" b="1" dirty="0">
                <a:solidFill>
                  <a:schemeClr val="tx2"/>
                </a:solidFill>
              </a:rPr>
              <a:t>Nine findings, none High</a:t>
            </a:r>
            <a:endParaRPr lang="en-US" sz="3200" dirty="0"/>
          </a:p>
        </p:txBody>
      </p:sp>
      <p:sp>
        <p:nvSpPr>
          <p:cNvPr id="3" name="Chart card"/>
          <p:cNvSpPr/>
          <p:nvPr/>
        </p:nvSpPr>
        <p:spPr>
          <a:xfrm>
            <a:off x="457200" y="1051560"/>
            <a:ext cx="2926080" cy="3520440"/>
          </a:xfrm>
          <a:prstGeom prst="roundRect">
            <a:avLst>
              <a:gd name="adj" fmla="val 2500"/>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graphicFrame>
        <p:nvGraphicFramePr>
          <p:cNvPr id="4" name="Chart 0" descr=""/>
          <p:cNvGraphicFramePr/>
          <p:nvPr/>
        </p:nvGraphicFramePr>
        <p:xfrm>
          <a:off x="548640" y="1143000"/>
          <a:ext cx="2743200" cy="333756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Findings table"/>
          <p:cNvGraphicFramePr>
            <a:graphicFrameLocks noGrp="1"/>
          </p:cNvGraphicFramePr>
          <p:nvPr>
            <p:extLst>
              <p:ext uri="{D42A27DB-BD31-4B8C-83A1-F6EECF244321}">
                <p14:modId xmlns:p14="http://schemas.microsoft.com/office/powerpoint/2010/main" val="1579011935"/>
              </p:ext>
            </p:extLst>
          </p:nvPr>
        </p:nvGraphicFramePr>
        <p:xfrm>
          <a:off x="3657600" y="1051560"/>
          <a:ext cx="5029200" cy="914400"/>
        </p:xfrm>
        <a:graphic>
          <a:graphicData uri="http://schemas.openxmlformats.org/drawingml/2006/table">
            <a:tbl>
              <a:tblPr/>
              <a:tblGrid>
                <a:gridCol w="640080"/>
                <a:gridCol w="3200400"/>
                <a:gridCol w="1188720"/>
              </a:tblGrid>
              <a:tr h="352044">
                <a:tc>
                  <a:txBody>
                    <a:bodyPr/>
                    <a:lstStyle/>
                    <a:p>
                      <a:pPr indent="0" marL="0">
                        <a:buNone/>
                      </a:pPr>
                      <a:r>
                        <a:rPr lang="en-US" sz="1200" b="1" dirty="0">
                          <a:solidFill>
                            <a:srgbClr val="FFFFFF"/>
                          </a:solidFill>
                        </a:rPr>
                        <a:t>ID</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0B2540"/>
                    </a:solidFill>
                  </a:tcPr>
                </a:tc>
                <a:tc>
                  <a:txBody>
                    <a:bodyPr/>
                    <a:lstStyle/>
                    <a:p>
                      <a:pPr indent="0" marL="0">
                        <a:buNone/>
                      </a:pPr>
                      <a:r>
                        <a:rPr lang="en-US" sz="1200" b="1" dirty="0">
                          <a:solidFill>
                            <a:srgbClr val="FFFFFF"/>
                          </a:solidFill>
                        </a:rPr>
                        <a:t>Finding</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0B2540"/>
                    </a:solidFill>
                  </a:tcPr>
                </a:tc>
                <a:tc>
                  <a:txBody>
                    <a:bodyPr/>
                    <a:lstStyle/>
                    <a:p>
                      <a:pPr indent="0" marL="0">
                        <a:buNone/>
                      </a:pPr>
                      <a:r>
                        <a:rPr lang="en-US" sz="1200" b="1" dirty="0">
                          <a:solidFill>
                            <a:srgbClr val="FFFFFF"/>
                          </a:solidFill>
                        </a:rPr>
                        <a:t>Severity</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0B2540"/>
                    </a:solidFill>
                  </a:tcPr>
                </a:tc>
              </a:tr>
              <a:tr h="352044">
                <a:tc>
                  <a:txBody>
                    <a:bodyPr/>
                    <a:lstStyle/>
                    <a:p>
                      <a:pPr indent="0" marL="0">
                        <a:buNone/>
                      </a:pPr>
                      <a:r>
                        <a:rPr lang="en-US" sz="1200" dirty="0">
                          <a:solidFill>
                            <a:srgbClr val="0B2540"/>
                          </a:solidFill>
                        </a:rPr>
                        <a:t>F-01</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FFFFF"/>
                    </a:solidFill>
                  </a:tcPr>
                </a:tc>
                <a:tc>
                  <a:txBody>
                    <a:bodyPr/>
                    <a:lstStyle/>
                    <a:p>
                      <a:pPr indent="0" marL="0">
                        <a:buNone/>
                      </a:pPr>
                      <a:r>
                        <a:rPr lang="en-US" sz="1200" dirty="0">
                          <a:solidFill>
                            <a:srgbClr val="0B2540"/>
                          </a:solidFill>
                        </a:rPr>
                        <a:t>Directory indexing</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2540"/>
                          </a:solidFill>
                        </a:rPr>
                        <a:t>Medium</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BD0C4"/>
                    </a:solidFill>
                  </a:tcPr>
                </a:tc>
              </a:tr>
              <a:tr h="352044">
                <a:tc>
                  <a:txBody>
                    <a:bodyPr/>
                    <a:lstStyle/>
                    <a:p>
                      <a:pPr indent="0" marL="0">
                        <a:buNone/>
                      </a:pPr>
                      <a:r>
                        <a:rPr lang="en-US" sz="1200" dirty="0">
                          <a:solidFill>
                            <a:srgbClr val="0B2540"/>
                          </a:solidFill>
                        </a:rPr>
                        <a:t>F-02</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FFFFF"/>
                    </a:solidFill>
                  </a:tcPr>
                </a:tc>
                <a:tc>
                  <a:txBody>
                    <a:bodyPr/>
                    <a:lstStyle/>
                    <a:p>
                      <a:pPr indent="0" marL="0">
                        <a:buNone/>
                      </a:pPr>
                      <a:r>
                        <a:rPr lang="en-US" sz="1200" dirty="0">
                          <a:solidFill>
                            <a:srgbClr val="0B2540"/>
                          </a:solidFill>
                        </a:rPr>
                        <a:t>Exposed .git and ignore files</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2540"/>
                          </a:solidFill>
                        </a:rPr>
                        <a:t>Medium</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BD0C4"/>
                    </a:solidFill>
                  </a:tcPr>
                </a:tc>
              </a:tr>
              <a:tr h="352044">
                <a:tc>
                  <a:txBody>
                    <a:bodyPr/>
                    <a:lstStyle/>
                    <a:p>
                      <a:pPr indent="0" marL="0">
                        <a:buNone/>
                      </a:pPr>
                      <a:r>
                        <a:rPr lang="en-US" sz="1200" dirty="0">
                          <a:solidFill>
                            <a:srgbClr val="0B2540"/>
                          </a:solidFill>
                        </a:rPr>
                        <a:t>F-03</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FFFFF"/>
                    </a:solidFill>
                  </a:tcPr>
                </a:tc>
                <a:tc>
                  <a:txBody>
                    <a:bodyPr/>
                    <a:lstStyle/>
                    <a:p>
                      <a:pPr indent="0" marL="0">
                        <a:buNone/>
                      </a:pPr>
                      <a:r>
                        <a:rPr lang="en-US" sz="1200" dirty="0">
                          <a:solidFill>
                            <a:srgbClr val="0B2540"/>
                          </a:solidFill>
                        </a:rPr>
                        <a:t>Default database credentials</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2540"/>
                          </a:solidFill>
                        </a:rPr>
                        <a:t>Medium</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BD0C4"/>
                    </a:solidFill>
                  </a:tcPr>
                </a:tc>
              </a:tr>
              <a:tr h="352044">
                <a:tc>
                  <a:txBody>
                    <a:bodyPr/>
                    <a:lstStyle/>
                    <a:p>
                      <a:pPr indent="0" marL="0">
                        <a:buNone/>
                      </a:pPr>
                      <a:r>
                        <a:rPr lang="en-US" sz="1200" dirty="0">
                          <a:solidFill>
                            <a:srgbClr val="0B2540"/>
                          </a:solidFill>
                        </a:rPr>
                        <a:t>F-04</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FFFFF"/>
                    </a:solidFill>
                  </a:tcPr>
                </a:tc>
                <a:tc>
                  <a:txBody>
                    <a:bodyPr/>
                    <a:lstStyle/>
                    <a:p>
                      <a:pPr indent="0" marL="0">
                        <a:buNone/>
                      </a:pPr>
                      <a:r>
                        <a:rPr lang="en-US" sz="1200" dirty="0">
                          <a:solidFill>
                            <a:srgbClr val="0B2540"/>
                          </a:solidFill>
                        </a:rPr>
                        <a:t>Missing security headers</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2540"/>
                          </a:solidFill>
                        </a:rPr>
                        <a:t>Low</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CE7B8"/>
                    </a:solidFill>
                  </a:tcPr>
                </a:tc>
              </a:tr>
              <a:tr h="352044">
                <a:tc>
                  <a:txBody>
                    <a:bodyPr/>
                    <a:lstStyle/>
                    <a:p>
                      <a:pPr indent="0" marL="0">
                        <a:buNone/>
                      </a:pPr>
                      <a:r>
                        <a:rPr lang="en-US" sz="1200" dirty="0">
                          <a:solidFill>
                            <a:srgbClr val="0B2540"/>
                          </a:solidFill>
                        </a:rPr>
                        <a:t>F-05</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FFFFF"/>
                    </a:solidFill>
                  </a:tcPr>
                </a:tc>
                <a:tc>
                  <a:txBody>
                    <a:bodyPr/>
                    <a:lstStyle/>
                    <a:p>
                      <a:pPr indent="0" marL="0">
                        <a:buNone/>
                      </a:pPr>
                      <a:r>
                        <a:rPr lang="en-US" sz="1200" dirty="0">
                          <a:solidFill>
                            <a:srgbClr val="0B2540"/>
                          </a:solidFill>
                        </a:rPr>
                        <a:t>Login over unencrypted HTTP</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2540"/>
                          </a:solidFill>
                        </a:rPr>
                        <a:t>Low</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CE7B8"/>
                    </a:solidFill>
                  </a:tcPr>
                </a:tc>
              </a:tr>
              <a:tr h="352044">
                <a:tc>
                  <a:txBody>
                    <a:bodyPr/>
                    <a:lstStyle/>
                    <a:p>
                      <a:pPr indent="0" marL="0">
                        <a:buNone/>
                      </a:pPr>
                      <a:r>
                        <a:rPr lang="en-US" sz="1200" dirty="0">
                          <a:solidFill>
                            <a:srgbClr val="0B2540"/>
                          </a:solidFill>
                        </a:rPr>
                        <a:t>F-06</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FFFFF"/>
                    </a:solidFill>
                  </a:tcPr>
                </a:tc>
                <a:tc>
                  <a:txBody>
                    <a:bodyPr/>
                    <a:lstStyle/>
                    <a:p>
                      <a:pPr indent="0" marL="0">
                        <a:buNone/>
                      </a:pPr>
                      <a:r>
                        <a:rPr lang="en-US" sz="1200" dirty="0">
                          <a:solidFill>
                            <a:srgbClr val="0B2540"/>
                          </a:solidFill>
                        </a:rPr>
                        <a:t>Cookie attribute gaps</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2540"/>
                          </a:solidFill>
                        </a:rPr>
                        <a:t>Low</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CE7B8"/>
                    </a:solidFill>
                  </a:tcPr>
                </a:tc>
              </a:tr>
              <a:tr h="352044">
                <a:tc>
                  <a:txBody>
                    <a:bodyPr/>
                    <a:lstStyle/>
                    <a:p>
                      <a:pPr indent="0" marL="0">
                        <a:buNone/>
                      </a:pPr>
                      <a:r>
                        <a:rPr lang="en-US" sz="1200" dirty="0">
                          <a:solidFill>
                            <a:srgbClr val="0B2540"/>
                          </a:solidFill>
                        </a:rPr>
                        <a:t>F-07</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FFFFF"/>
                    </a:solidFill>
                  </a:tcPr>
                </a:tc>
                <a:tc>
                  <a:txBody>
                    <a:bodyPr/>
                    <a:lstStyle/>
                    <a:p>
                      <a:pPr indent="0" marL="0">
                        <a:buNone/>
                      </a:pPr>
                      <a:r>
                        <a:rPr lang="en-US" sz="1200" dirty="0">
                          <a:solidFill>
                            <a:srgbClr val="0B2540"/>
                          </a:solidFill>
                        </a:rPr>
                        <a:t>Server version disclosure</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2540"/>
                          </a:solidFill>
                        </a:rPr>
                        <a:t>Low</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CE7B8"/>
                    </a:solidFill>
                  </a:tcPr>
                </a:tc>
              </a:tr>
              <a:tr h="352044">
                <a:tc>
                  <a:txBody>
                    <a:bodyPr/>
                    <a:lstStyle/>
                    <a:p>
                      <a:pPr indent="0" marL="0">
                        <a:buNone/>
                      </a:pPr>
                      <a:r>
                        <a:rPr lang="en-US" sz="1200" dirty="0">
                          <a:solidFill>
                            <a:srgbClr val="0B2540"/>
                          </a:solidFill>
                        </a:rPr>
                        <a:t>F-08</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FFFFF"/>
                    </a:solidFill>
                  </a:tcPr>
                </a:tc>
                <a:tc>
                  <a:txBody>
                    <a:bodyPr/>
                    <a:lstStyle/>
                    <a:p>
                      <a:pPr indent="0" marL="0">
                        <a:buNone/>
                      </a:pPr>
                      <a:r>
                        <a:rPr lang="en-US" sz="1200" dirty="0">
                          <a:solidFill>
                            <a:srgbClr val="0B2540"/>
                          </a:solidFill>
                        </a:rPr>
                        <a:t>Server errors, verbose logs</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2540"/>
                          </a:solidFill>
                        </a:rPr>
                        <a:t>Info</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D3E4F2"/>
                    </a:solidFill>
                  </a:tcPr>
                </a:tc>
              </a:tr>
              <a:tr h="352044">
                <a:tc>
                  <a:txBody>
                    <a:bodyPr/>
                    <a:lstStyle/>
                    <a:p>
                      <a:pPr indent="0" marL="0">
                        <a:buNone/>
                      </a:pPr>
                      <a:r>
                        <a:rPr lang="en-US" sz="1200" dirty="0">
                          <a:solidFill>
                            <a:srgbClr val="0B2540"/>
                          </a:solidFill>
                        </a:rPr>
                        <a:t>F-09</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FFFFF"/>
                    </a:solidFill>
                  </a:tcPr>
                </a:tc>
                <a:tc>
                  <a:txBody>
                    <a:bodyPr/>
                    <a:lstStyle/>
                    <a:p>
                      <a:pPr indent="0" marL="0">
                        <a:buNone/>
                      </a:pPr>
                      <a:r>
                        <a:rPr lang="en-US" sz="1200" dirty="0">
                          <a:solidFill>
                            <a:srgbClr val="0B2540"/>
                          </a:solidFill>
                        </a:rPr>
                        <a:t>No open ports seen (filtered)</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2540"/>
                          </a:solidFill>
                        </a:rPr>
                        <a:t>Info</a:t>
                      </a:r>
                      <a:endParaRPr lang="en-US" sz="1200" dirty="0"/>
                    </a:p>
                  </a:txBody>
                  <a:tcPr marL="73152" marR="73152" marT="27432" marB="27432" anchor="ctr">
                    <a:lnL w="9525" cap="flat" cmpd="sng" algn="ctr">
                      <a:solidFill>
                        <a:srgbClr val="C9D4DE"/>
                      </a:solidFill>
                      <a:prstDash val="solid"/>
                      <a:round/>
                      <a:headEnd type="none" w="med" len="med"/>
                      <a:tailEnd type="none" w="med" len="med"/>
                    </a:lnL>
                    <a:lnR w="9525" cap="flat" cmpd="sng" algn="ctr">
                      <a:solidFill>
                        <a:srgbClr val="C9D4DE"/>
                      </a:solidFill>
                      <a:prstDash val="solid"/>
                      <a:round/>
                      <a:headEnd type="none" w="med" len="med"/>
                      <a:tailEnd type="none" w="med" len="med"/>
                    </a:lnR>
                    <a:lnT w="9525" cap="flat" cmpd="sng" algn="ctr">
                      <a:solidFill>
                        <a:srgbClr val="C9D4DE"/>
                      </a:solidFill>
                      <a:prstDash val="solid"/>
                      <a:round/>
                      <a:headEnd type="none" w="med" len="med"/>
                      <a:tailEnd type="none" w="med" len="med"/>
                    </a:lnT>
                    <a:lnB w="9525" cap="flat" cmpd="sng" algn="ctr">
                      <a:solidFill>
                        <a:srgbClr val="C9D4DE"/>
                      </a:solidFill>
                      <a:prstDash val="solid"/>
                      <a:round/>
                      <a:headEnd type="none" w="med" len="med"/>
                      <a:tailEnd type="none" w="med" len="med"/>
                    </a:lnB>
                    <a:solidFill>
                      <a:srgbClr val="D3E4F2"/>
                    </a:solidFill>
                  </a:tcPr>
                </a:tc>
              </a:tr>
            </a:tbl>
          </a:graphicData>
        </a:graphic>
      </p:graphicFrame>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3200" b="1" dirty="0">
                <a:solidFill>
                  <a:schemeClr val="tx2"/>
                </a:solidFill>
              </a:rPr>
              <a:t>Remediation priorities</a:t>
            </a:r>
            <a:endParaRPr lang="en-US" sz="3200" dirty="0"/>
          </a:p>
        </p:txBody>
      </p:sp>
      <p:sp>
        <p:nvSpPr>
          <p:cNvPr id="3" name="Priority card 1"/>
          <p:cNvSpPr/>
          <p:nvPr/>
        </p:nvSpPr>
        <p:spPr>
          <a:xfrm>
            <a:off x="457200" y="1143000"/>
            <a:ext cx="2651760" cy="3108960"/>
          </a:xfrm>
          <a:prstGeom prst="roundRect">
            <a:avLst>
              <a:gd name="adj" fmla="val 2759"/>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4" name="Priority icon 1 circle"/>
          <p:cNvSpPr/>
          <p:nvPr/>
        </p:nvSpPr>
        <p:spPr>
          <a:xfrm>
            <a:off x="685800" y="1371600"/>
            <a:ext cx="731520" cy="731520"/>
          </a:xfrm>
          <a:prstGeom prst="ellipse">
            <a:avLst/>
          </a:prstGeom>
          <a:solidFill>
            <a:srgbClr val="E4572E"/>
          </a:solidFill>
          <a:ln w="12700">
            <a:solidFill>
              <a:srgbClr val="E4572E"/>
            </a:solidFill>
            <a:prstDash val="solid"/>
          </a:ln>
        </p:spPr>
      </p:sp>
      <p:pic>
        <p:nvPicPr>
          <p:cNvPr id="5" name="Image 0" descr="Priority icon 1">    </p:cNvPr>
          <p:cNvPicPr>
            <a:picLocks noChangeAspect="1"/>
          </p:cNvPicPr>
          <p:nvPr/>
        </p:nvPicPr>
        <p:blipFill>
          <a:blip r:embed="rId1"/>
          <a:stretch>
            <a:fillRect/>
          </a:stretch>
        </p:blipFill>
        <p:spPr>
          <a:xfrm>
            <a:off x="868680" y="1554480"/>
            <a:ext cx="365760" cy="365760"/>
          </a:xfrm>
          <a:prstGeom prst="rect">
            <a:avLst/>
          </a:prstGeom>
        </p:spPr>
      </p:pic>
      <p:sp>
        <p:nvSpPr>
          <p:cNvPr id="6" name="Priority label 1"/>
          <p:cNvSpPr txBox="1"/>
          <p:nvPr/>
        </p:nvSpPr>
        <p:spPr>
          <a:xfrm>
            <a:off x="1554480" y="1554480"/>
            <a:ext cx="1463040" cy="365760"/>
          </a:xfrm>
          <a:prstGeom prst="rect">
            <a:avLst/>
          </a:prstGeom>
          <a:noFill/>
          <a:ln/>
        </p:spPr>
        <p:txBody>
          <a:bodyPr wrap="square" lIns="0" tIns="0" rIns="0" bIns="0" rtlCol="0" anchor="ctr"/>
          <a:lstStyle/>
          <a:p>
            <a:pPr indent="0" marL="0">
              <a:buNone/>
            </a:pPr>
            <a:r>
              <a:rPr lang="en-US" sz="1600" b="1" dirty="0">
                <a:solidFill>
                  <a:schemeClr val="accent5"/>
                </a:solidFill>
              </a:rPr>
              <a:t>1  First</a:t>
            </a:r>
            <a:endParaRPr lang="en-US" sz="1600" dirty="0"/>
          </a:p>
        </p:txBody>
      </p:sp>
      <p:sp>
        <p:nvSpPr>
          <p:cNvPr id="7" name="Priority heading 1"/>
          <p:cNvSpPr txBox="1"/>
          <p:nvPr/>
        </p:nvSpPr>
        <p:spPr>
          <a:xfrm>
            <a:off x="685800" y="2331720"/>
            <a:ext cx="2240280" cy="365760"/>
          </a:xfrm>
          <a:prstGeom prst="rect">
            <a:avLst/>
          </a:prstGeom>
          <a:noFill/>
          <a:ln/>
        </p:spPr>
        <p:txBody>
          <a:bodyPr wrap="square" lIns="0" tIns="0" rIns="0" bIns="0" rtlCol="0" anchor="ctr"/>
          <a:lstStyle/>
          <a:p>
            <a:pPr indent="0" marL="0">
              <a:buNone/>
            </a:pPr>
            <a:r>
              <a:rPr lang="en-US" sz="1800" b="1" dirty="0">
                <a:solidFill>
                  <a:schemeClr val="tx2"/>
                </a:solidFill>
              </a:rPr>
              <a:t>Close the doors</a:t>
            </a:r>
            <a:endParaRPr lang="en-US" sz="1800" dirty="0"/>
          </a:p>
        </p:txBody>
      </p:sp>
      <p:sp>
        <p:nvSpPr>
          <p:cNvPr id="8" name="Priority text 1"/>
          <p:cNvSpPr txBox="1"/>
          <p:nvPr/>
        </p:nvSpPr>
        <p:spPr>
          <a:xfrm>
            <a:off x="685800" y="2788920"/>
            <a:ext cx="2240280" cy="1325880"/>
          </a:xfrm>
          <a:prstGeom prst="rect">
            <a:avLst/>
          </a:prstGeom>
          <a:noFill/>
          <a:ln/>
        </p:spPr>
        <p:txBody>
          <a:bodyPr wrap="square" lIns="0" tIns="0" rIns="0" bIns="0" rtlCol="0" anchor="t"/>
          <a:lstStyle/>
          <a:p>
            <a:pPr indent="0" marL="0">
              <a:buNone/>
            </a:pPr>
            <a:r>
              <a:rPr lang="en-US" sz="1400" dirty="0">
                <a:solidFill>
                  <a:schemeClr val="tx1"/>
                </a:solidFill>
              </a:rPr>
              <a:t>Remove or deny /config, /tests, /database, /docs and .git. Replace the default database password.</a:t>
            </a:r>
            <a:endParaRPr lang="en-US" sz="1400" dirty="0"/>
          </a:p>
        </p:txBody>
      </p:sp>
      <p:sp>
        <p:nvSpPr>
          <p:cNvPr id="9" name="Priority card 2"/>
          <p:cNvSpPr/>
          <p:nvPr/>
        </p:nvSpPr>
        <p:spPr>
          <a:xfrm>
            <a:off x="3291840" y="1143000"/>
            <a:ext cx="2651760" cy="3108960"/>
          </a:xfrm>
          <a:prstGeom prst="roundRect">
            <a:avLst>
              <a:gd name="adj" fmla="val 2759"/>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10" name="Priority icon 2 circle"/>
          <p:cNvSpPr/>
          <p:nvPr/>
        </p:nvSpPr>
        <p:spPr>
          <a:xfrm>
            <a:off x="3520440" y="1371600"/>
            <a:ext cx="731520" cy="731520"/>
          </a:xfrm>
          <a:prstGeom prst="ellipse">
            <a:avLst/>
          </a:prstGeom>
          <a:solidFill>
            <a:srgbClr val="F2A33A"/>
          </a:solidFill>
          <a:ln w="12700">
            <a:solidFill>
              <a:srgbClr val="F2A33A"/>
            </a:solidFill>
            <a:prstDash val="solid"/>
          </a:ln>
        </p:spPr>
      </p:sp>
      <p:pic>
        <p:nvPicPr>
          <p:cNvPr id="11" name="Image 1" descr="Priority icon 2">    </p:cNvPr>
          <p:cNvPicPr>
            <a:picLocks noChangeAspect="1"/>
          </p:cNvPicPr>
          <p:nvPr/>
        </p:nvPicPr>
        <p:blipFill>
          <a:blip r:embed="rId2"/>
          <a:stretch>
            <a:fillRect/>
          </a:stretch>
        </p:blipFill>
        <p:spPr>
          <a:xfrm>
            <a:off x="3703320" y="1554480"/>
            <a:ext cx="365760" cy="365760"/>
          </a:xfrm>
          <a:prstGeom prst="rect">
            <a:avLst/>
          </a:prstGeom>
        </p:spPr>
      </p:pic>
      <p:sp>
        <p:nvSpPr>
          <p:cNvPr id="12" name="Priority label 2"/>
          <p:cNvSpPr txBox="1"/>
          <p:nvPr/>
        </p:nvSpPr>
        <p:spPr>
          <a:xfrm>
            <a:off x="4389120" y="1554480"/>
            <a:ext cx="1463040" cy="365760"/>
          </a:xfrm>
          <a:prstGeom prst="rect">
            <a:avLst/>
          </a:prstGeom>
          <a:noFill/>
          <a:ln/>
        </p:spPr>
        <p:txBody>
          <a:bodyPr wrap="square" lIns="0" tIns="0" rIns="0" bIns="0" rtlCol="0" anchor="ctr"/>
          <a:lstStyle/>
          <a:p>
            <a:pPr indent="0" marL="0">
              <a:buNone/>
            </a:pPr>
            <a:r>
              <a:rPr lang="en-US" sz="1600" b="1" dirty="0">
                <a:solidFill>
                  <a:schemeClr val="accent5"/>
                </a:solidFill>
              </a:rPr>
              <a:t>2  Next</a:t>
            </a:r>
            <a:endParaRPr lang="en-US" sz="1600" dirty="0"/>
          </a:p>
        </p:txBody>
      </p:sp>
      <p:sp>
        <p:nvSpPr>
          <p:cNvPr id="13" name="Priority heading 2"/>
          <p:cNvSpPr txBox="1"/>
          <p:nvPr/>
        </p:nvSpPr>
        <p:spPr>
          <a:xfrm>
            <a:off x="3520440" y="2331720"/>
            <a:ext cx="2240280" cy="365760"/>
          </a:xfrm>
          <a:prstGeom prst="rect">
            <a:avLst/>
          </a:prstGeom>
          <a:noFill/>
          <a:ln/>
        </p:spPr>
        <p:txBody>
          <a:bodyPr wrap="square" lIns="0" tIns="0" rIns="0" bIns="0" rtlCol="0" anchor="ctr"/>
          <a:lstStyle/>
          <a:p>
            <a:pPr indent="0" marL="0">
              <a:buNone/>
            </a:pPr>
            <a:r>
              <a:rPr lang="en-US" sz="1800" b="1" dirty="0">
                <a:solidFill>
                  <a:schemeClr val="tx2"/>
                </a:solidFill>
              </a:rPr>
              <a:t>Protect transport</a:t>
            </a:r>
            <a:endParaRPr lang="en-US" sz="1800" dirty="0"/>
          </a:p>
        </p:txBody>
      </p:sp>
      <p:sp>
        <p:nvSpPr>
          <p:cNvPr id="14" name="Priority text 2"/>
          <p:cNvSpPr txBox="1"/>
          <p:nvPr/>
        </p:nvSpPr>
        <p:spPr>
          <a:xfrm>
            <a:off x="3520440" y="2788920"/>
            <a:ext cx="2240280" cy="1325880"/>
          </a:xfrm>
          <a:prstGeom prst="rect">
            <a:avLst/>
          </a:prstGeom>
          <a:noFill/>
          <a:ln/>
        </p:spPr>
        <p:txBody>
          <a:bodyPr wrap="square" lIns="0" tIns="0" rIns="0" bIns="0" rtlCol="0" anchor="t"/>
          <a:lstStyle/>
          <a:p>
            <a:pPr indent="0" marL="0">
              <a:buNone/>
            </a:pPr>
            <a:r>
              <a:rPr lang="en-US" sz="1400" dirty="0">
                <a:solidFill>
                  <a:schemeClr val="tx1"/>
                </a:solidFill>
              </a:rPr>
              <a:t>Enable HTTPS, then HSTS, Secure and SameSite cookie settings.</a:t>
            </a:r>
            <a:endParaRPr lang="en-US" sz="1400" dirty="0"/>
          </a:p>
        </p:txBody>
      </p:sp>
      <p:sp>
        <p:nvSpPr>
          <p:cNvPr id="15" name="Priority card 3"/>
          <p:cNvSpPr/>
          <p:nvPr/>
        </p:nvSpPr>
        <p:spPr>
          <a:xfrm>
            <a:off x="6126480" y="1143000"/>
            <a:ext cx="2651760" cy="3108960"/>
          </a:xfrm>
          <a:prstGeom prst="roundRect">
            <a:avLst>
              <a:gd name="adj" fmla="val 2759"/>
            </a:avLst>
          </a:prstGeom>
          <a:solidFill>
            <a:schemeClr val="bg1"/>
          </a:solidFill>
          <a:ln w="9525">
            <a:solidFill>
              <a:srgbClr val="DDE5EC"/>
            </a:solidFill>
            <a:prstDash val="solid"/>
          </a:ln>
          <a:effectLst>
            <a:outerShdw sx="100000" sy="100000" kx="0" ky="0" algn="bl" rotWithShape="0" blurRad="76200" dist="25400" dir="5400000">
              <a:srgbClr val="000000">
                <a:alpha val="12000"/>
              </a:srgbClr>
            </a:outerShdw>
          </a:effectLst>
        </p:spPr>
      </p:sp>
      <p:sp>
        <p:nvSpPr>
          <p:cNvPr id="16" name="Priority icon 3 circle"/>
          <p:cNvSpPr/>
          <p:nvPr/>
        </p:nvSpPr>
        <p:spPr>
          <a:xfrm>
            <a:off x="6355080" y="1371600"/>
            <a:ext cx="731520" cy="731520"/>
          </a:xfrm>
          <a:prstGeom prst="ellipse">
            <a:avLst/>
          </a:prstGeom>
          <a:solidFill>
            <a:srgbClr val="00A896"/>
          </a:solidFill>
          <a:ln w="12700">
            <a:solidFill>
              <a:srgbClr val="00A896"/>
            </a:solidFill>
            <a:prstDash val="solid"/>
          </a:ln>
        </p:spPr>
      </p:sp>
      <p:pic>
        <p:nvPicPr>
          <p:cNvPr id="17" name="Image 2" descr="Priority icon 3">    </p:cNvPr>
          <p:cNvPicPr>
            <a:picLocks noChangeAspect="1"/>
          </p:cNvPicPr>
          <p:nvPr/>
        </p:nvPicPr>
        <p:blipFill>
          <a:blip r:embed="rId3"/>
          <a:stretch>
            <a:fillRect/>
          </a:stretch>
        </p:blipFill>
        <p:spPr>
          <a:xfrm>
            <a:off x="6537960" y="1554480"/>
            <a:ext cx="365760" cy="365760"/>
          </a:xfrm>
          <a:prstGeom prst="rect">
            <a:avLst/>
          </a:prstGeom>
        </p:spPr>
      </p:pic>
      <p:sp>
        <p:nvSpPr>
          <p:cNvPr id="18" name="Priority label 3"/>
          <p:cNvSpPr txBox="1"/>
          <p:nvPr/>
        </p:nvSpPr>
        <p:spPr>
          <a:xfrm>
            <a:off x="7223760" y="1554480"/>
            <a:ext cx="1463040" cy="365760"/>
          </a:xfrm>
          <a:prstGeom prst="rect">
            <a:avLst/>
          </a:prstGeom>
          <a:noFill/>
          <a:ln/>
        </p:spPr>
        <p:txBody>
          <a:bodyPr wrap="square" lIns="0" tIns="0" rIns="0" bIns="0" rtlCol="0" anchor="ctr"/>
          <a:lstStyle/>
          <a:p>
            <a:pPr indent="0" marL="0">
              <a:buNone/>
            </a:pPr>
            <a:r>
              <a:rPr lang="en-US" sz="1600" b="1" dirty="0">
                <a:solidFill>
                  <a:schemeClr val="accent5"/>
                </a:solidFill>
              </a:rPr>
              <a:t>3  Then</a:t>
            </a:r>
            <a:endParaRPr lang="en-US" sz="1600" dirty="0"/>
          </a:p>
        </p:txBody>
      </p:sp>
      <p:sp>
        <p:nvSpPr>
          <p:cNvPr id="19" name="Priority heading 3"/>
          <p:cNvSpPr txBox="1"/>
          <p:nvPr/>
        </p:nvSpPr>
        <p:spPr>
          <a:xfrm>
            <a:off x="6355080" y="2331720"/>
            <a:ext cx="2240280" cy="365760"/>
          </a:xfrm>
          <a:prstGeom prst="rect">
            <a:avLst/>
          </a:prstGeom>
          <a:noFill/>
          <a:ln/>
        </p:spPr>
        <p:txBody>
          <a:bodyPr wrap="square" lIns="0" tIns="0" rIns="0" bIns="0" rtlCol="0" anchor="ctr"/>
          <a:lstStyle/>
          <a:p>
            <a:pPr indent="0" marL="0">
              <a:buNone/>
            </a:pPr>
            <a:r>
              <a:rPr lang="en-US" sz="1800" b="1" dirty="0">
                <a:solidFill>
                  <a:schemeClr val="tx2"/>
                </a:solidFill>
              </a:rPr>
              <a:t>Harden the server</a:t>
            </a:r>
            <a:endParaRPr lang="en-US" sz="1800" dirty="0"/>
          </a:p>
        </p:txBody>
      </p:sp>
      <p:sp>
        <p:nvSpPr>
          <p:cNvPr id="20" name="Priority text 3"/>
          <p:cNvSpPr txBox="1"/>
          <p:nvPr/>
        </p:nvSpPr>
        <p:spPr>
          <a:xfrm>
            <a:off x="6355080" y="2788920"/>
            <a:ext cx="2240280" cy="1325880"/>
          </a:xfrm>
          <a:prstGeom prst="rect">
            <a:avLst/>
          </a:prstGeom>
          <a:noFill/>
          <a:ln/>
        </p:spPr>
        <p:txBody>
          <a:bodyPr wrap="square" lIns="0" tIns="0" rIns="0" bIns="0" rtlCol="0" anchor="t"/>
          <a:lstStyle/>
          <a:p>
            <a:pPr indent="0" marL="0">
              <a:buNone/>
            </a:pPr>
            <a:r>
              <a:rPr lang="en-US" sz="1400" dirty="0">
                <a:solidFill>
                  <a:schemeClr val="tx1"/>
                </a:solidFill>
              </a:rPr>
              <a:t>Add security headers, set ServerTokens Prod, turn display_errors off.</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3200" b="1" dirty="0">
                <a:solidFill>
                  <a:schemeClr val="bg1"/>
                </a:solidFill>
              </a:rPr>
              <a:t>Conclusion</a:t>
            </a:r>
            <a:endParaRPr lang="en-US" sz="3200" dirty="0"/>
          </a:p>
        </p:txBody>
      </p:sp>
      <p:sp>
        <p:nvSpPr>
          <p:cNvPr id="3" name="Closing card 1"/>
          <p:cNvSpPr/>
          <p:nvPr/>
        </p:nvSpPr>
        <p:spPr>
          <a:xfrm>
            <a:off x="457200" y="1097280"/>
            <a:ext cx="4023360" cy="2834640"/>
          </a:xfrm>
          <a:prstGeom prst="roundRect">
            <a:avLst>
              <a:gd name="adj" fmla="val 2581"/>
            </a:avLst>
          </a:prstGeom>
          <a:solidFill>
            <a:srgbClr val="12365A"/>
          </a:solidFill>
          <a:ln w="9525">
            <a:solidFill>
              <a:srgbClr val="1E4A7A"/>
            </a:solidFill>
            <a:prstDash val="solid"/>
          </a:ln>
        </p:spPr>
      </p:sp>
      <p:sp>
        <p:nvSpPr>
          <p:cNvPr id="4" name="Closing heading 1"/>
          <p:cNvSpPr txBox="1"/>
          <p:nvPr/>
        </p:nvSpPr>
        <p:spPr>
          <a:xfrm>
            <a:off x="685800" y="1234440"/>
            <a:ext cx="3566160" cy="365760"/>
          </a:xfrm>
          <a:prstGeom prst="rect">
            <a:avLst/>
          </a:prstGeom>
          <a:noFill/>
          <a:ln/>
        </p:spPr>
        <p:txBody>
          <a:bodyPr wrap="square" lIns="0" tIns="0" rIns="0" bIns="0" rtlCol="0" anchor="ctr"/>
          <a:lstStyle/>
          <a:p>
            <a:pPr indent="0" marL="0">
              <a:buNone/>
            </a:pPr>
            <a:r>
              <a:rPr lang="en-US" sz="1800" b="1" dirty="0">
                <a:solidFill>
                  <a:srgbClr val="00A896"/>
                </a:solidFill>
              </a:rPr>
              <a:t>What I learned</a:t>
            </a:r>
            <a:endParaRPr lang="en-US" sz="1800" dirty="0"/>
          </a:p>
        </p:txBody>
      </p:sp>
      <p:sp>
        <p:nvSpPr>
          <p:cNvPr id="5" name="Closing list 1"/>
          <p:cNvSpPr txBox="1"/>
          <p:nvPr/>
        </p:nvSpPr>
        <p:spPr>
          <a:xfrm>
            <a:off x="685800" y="1691640"/>
            <a:ext cx="361188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Running a tool is the start: results must be interpreted, validated and rated.</a:t>
            </a:r>
            <a:endParaRPr lang="en-US" sz="1400" dirty="0"/>
          </a:p>
          <a:p>
            <a:pPr marL="342900" indent="-342900">
              <a:spcAft>
                <a:spcPts val="600"/>
              </a:spcAft>
              <a:buSzPct val="100000"/>
              <a:buChar char="•"/>
            </a:pPr>
            <a:r>
              <a:rPr lang="en-US" sz="1400" dirty="0">
                <a:solidFill>
                  <a:schemeClr val="bg1"/>
                </a:solidFill>
              </a:rPr>
              <a:t>Manual checks with curl confirmed headers, cookies and the server banner.</a:t>
            </a:r>
            <a:endParaRPr lang="en-US" sz="1400" dirty="0"/>
          </a:p>
          <a:p>
            <a:pPr marL="342900" indent="-342900">
              <a:spcAft>
                <a:spcPts val="600"/>
              </a:spcAft>
              <a:buSzPct val="100000"/>
              <a:buChar char="•"/>
            </a:pPr>
            <a:r>
              <a:rPr lang="en-US" sz="1400" dirty="0">
                <a:solidFill>
                  <a:schemeClr val="bg1"/>
                </a:solidFill>
              </a:rPr>
              <a:t>Testing must stay within permission and scope.</a:t>
            </a:r>
            <a:endParaRPr lang="en-US" sz="1400" dirty="0"/>
          </a:p>
        </p:txBody>
      </p:sp>
      <p:sp>
        <p:nvSpPr>
          <p:cNvPr id="6" name="Closing card 2"/>
          <p:cNvSpPr/>
          <p:nvPr/>
        </p:nvSpPr>
        <p:spPr>
          <a:xfrm>
            <a:off x="4663440" y="1097280"/>
            <a:ext cx="4023360" cy="2834640"/>
          </a:xfrm>
          <a:prstGeom prst="roundRect">
            <a:avLst>
              <a:gd name="adj" fmla="val 2581"/>
            </a:avLst>
          </a:prstGeom>
          <a:solidFill>
            <a:srgbClr val="12365A"/>
          </a:solidFill>
          <a:ln w="9525">
            <a:solidFill>
              <a:srgbClr val="1E4A7A"/>
            </a:solidFill>
            <a:prstDash val="solid"/>
          </a:ln>
        </p:spPr>
      </p:sp>
      <p:sp>
        <p:nvSpPr>
          <p:cNvPr id="7" name="Closing heading 2"/>
          <p:cNvSpPr txBox="1"/>
          <p:nvPr/>
        </p:nvSpPr>
        <p:spPr>
          <a:xfrm>
            <a:off x="4892040" y="1234440"/>
            <a:ext cx="3566160" cy="365760"/>
          </a:xfrm>
          <a:prstGeom prst="rect">
            <a:avLst/>
          </a:prstGeom>
          <a:noFill/>
          <a:ln/>
        </p:spPr>
        <p:txBody>
          <a:bodyPr wrap="square" lIns="0" tIns="0" rIns="0" bIns="0" rtlCol="0" anchor="ctr"/>
          <a:lstStyle/>
          <a:p>
            <a:pPr indent="0" marL="0">
              <a:buNone/>
            </a:pPr>
            <a:r>
              <a:rPr lang="en-US" sz="1800" b="1" dirty="0">
                <a:solidFill>
                  <a:srgbClr val="F2A33A"/>
                </a:solidFill>
              </a:rPr>
              <a:t>Limitations</a:t>
            </a:r>
            <a:endParaRPr lang="en-US" sz="1800" dirty="0"/>
          </a:p>
        </p:txBody>
      </p:sp>
      <p:sp>
        <p:nvSpPr>
          <p:cNvPr id="8" name="Closing list 2"/>
          <p:cNvSpPr txBox="1"/>
          <p:nvPr/>
        </p:nvSpPr>
        <p:spPr>
          <a:xfrm>
            <a:off x="4892040" y="1691640"/>
            <a:ext cx="361188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Nmap result may reflect lab network filtering; repeat from another network.</a:t>
            </a:r>
            <a:endParaRPr lang="en-US" sz="1400" dirty="0"/>
          </a:p>
          <a:p>
            <a:pPr marL="342900" indent="-342900">
              <a:spcAft>
                <a:spcPts val="600"/>
              </a:spcAft>
              <a:buSzPct val="100000"/>
              <a:buChar char="•"/>
            </a:pPr>
            <a:r>
              <a:rPr lang="en-US" sz="1400" dirty="0">
                <a:solidFill>
                  <a:schemeClr val="bg1"/>
                </a:solidFill>
              </a:rPr>
              <a:t>Nikto and Burp ran on a local, deliberately vulnerable app.</a:t>
            </a:r>
            <a:endParaRPr lang="en-US" sz="1400" dirty="0"/>
          </a:p>
          <a:p>
            <a:pPr marL="342900" indent="-342900">
              <a:spcAft>
                <a:spcPts val="600"/>
              </a:spcAft>
              <a:buSzPct val="100000"/>
              <a:buChar char="•"/>
            </a:pPr>
            <a:r>
              <a:rPr lang="en-US" sz="1400" dirty="0">
                <a:solidFill>
                  <a:schemeClr val="bg1"/>
                </a:solidFill>
              </a:rPr>
              <a:t>F-01 and F-02 still need manual retrieval to confirm.</a:t>
            </a:r>
            <a:endParaRPr lang="en-US" sz="1400" dirty="0"/>
          </a:p>
        </p:txBody>
      </p:sp>
      <p:sp>
        <p:nvSpPr>
          <p:cNvPr id="9" name="Closing line"/>
          <p:cNvSpPr txBox="1"/>
          <p:nvPr/>
        </p:nvSpPr>
        <p:spPr>
          <a:xfrm>
            <a:off x="457200" y="4114800"/>
            <a:ext cx="8229600" cy="45720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Thank you. Questions?</a:t>
            </a:r>
            <a:endParaRPr lang="en-US" sz="2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FD3E6"/>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VAPT Midnight">
  <a:themeElements>
    <a:clrScheme name="VAPT Midnight">
      <a:dk1>
        <a:srgbClr val="10222F"/>
      </a:dk1>
      <a:lt1>
        <a:srgbClr val="FFFFFF"/>
      </a:lt1>
      <a:dk2>
        <a:srgbClr val="0B2540"/>
      </a:dk2>
      <a:lt2>
        <a:srgbClr val="F2F6FA"/>
      </a:lt2>
      <a:accent1>
        <a:srgbClr val="00A896"/>
      </a:accent1>
      <a:accent2>
        <a:srgbClr val="F2A33A"/>
      </a:accent2>
      <a:accent3>
        <a:srgbClr val="E4572E"/>
      </a:accent3>
      <a:accent4>
        <a:srgbClr val="3A7CA5"/>
      </a:accent4>
      <a:accent5>
        <a:srgbClr val="5B6B7A"/>
      </a:accent5>
      <a:accent6>
        <a:srgbClr val="7FB069"/>
      </a:accent6>
      <a:hlink>
        <a:srgbClr val="3A7CA5"/>
      </a:hlink>
      <a:folHlink>
        <a:srgbClr val="5B6B7A"/>
      </a:folHlink>
    </a:clrScheme>
    <a:fontScheme name="VAPT Mid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5 VAPT Practical</dc:title>
  <dc:subject>PptxGenJS Presentation</dc:subject>
  <dc:creator>Tanmay Sarkar</dc:creator>
  <cp:lastModifiedBy>Tanmay Sarkar</cp:lastModifiedBy>
  <cp:revision>1</cp:revision>
  <dcterms:created xsi:type="dcterms:W3CDTF">2026-10-03T05:36:03Z</dcterms:created>
  <dcterms:modified xsi:type="dcterms:W3CDTF">2026-10-03T05:36:03Z</dcterms:modified>
</cp:coreProperties>
</file>